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D1B2A"/>
                </a:solidFill>
                <a:latin typeface="Arial"/>
              </a:rPr>
              <a:t>Receita Frooty (R$ milhoes)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(30% a/a)</c:v>
                </c:pt>
              </c:strCache>
            </c:strRef>
          </c:tx>
          <c:spPr>
            <a:solidFill>
              <a:srgbClr val="D4A8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350</c:v>
                </c:pt>
                <c:pt idx="1">
                  <c:v>455</c:v>
                </c:pt>
                <c:pt idx="2">
                  <c:v>591</c:v>
                </c:pt>
                <c:pt idx="3">
                  <c:v>680</c:v>
                </c:pt>
                <c:pt idx="4">
                  <c:v>884</c:v>
                </c:pt>
                <c:pt idx="5">
                  <c:v>1149</c:v>
                </c:pt>
                <c:pt idx="6">
                  <c:v>1494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Conservador (15% a/a)</c:v>
                </c:pt>
              </c:strCache>
            </c:strRef>
          </c:tx>
          <c:spPr>
            <a:solidFill>
              <a:srgbClr val="415A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350</c:v>
                </c:pt>
                <c:pt idx="1">
                  <c:v>402</c:v>
                </c:pt>
                <c:pt idx="2">
                  <c:v>463</c:v>
                </c:pt>
                <c:pt idx="3">
                  <c:v>532</c:v>
                </c:pt>
                <c:pt idx="4">
                  <c:v>612</c:v>
                </c:pt>
                <c:pt idx="5">
                  <c:v>704</c:v>
                </c:pt>
                <c:pt idx="6">
                  <c:v>810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15A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15A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" cy="25603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FROOTY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de Investimento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fabricante de acai do mundo.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supply chain ao consumidor global.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|  Fevereiro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Strategic Investors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MERCADO DE ACAI GLOBAL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1.5B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75560" y="105156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75560" y="1051560"/>
            <a:ext cx="187452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257556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12.6%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7556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(2024-2030)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3920" y="105156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3920" y="1051560"/>
            <a:ext cx="187452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469392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2.3B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9392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Projecao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05156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051560"/>
            <a:ext cx="187452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+47.5%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12280" y="18288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Exportacoes BR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 vs 2023)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de Crescimento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6868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produz 1.93M ton (93% no Para) - domina supply global</a:t>
            </a:r>
            <a:endParaRPr lang="en-US" sz="1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66160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6868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superfoods: USD 193B (2024) com CAGR 6.1%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77640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6868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Franquias de alimentacao BR cresceram 16.1% em 2024 (R$ 46.8B)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89120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686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global por healthy food acelera pos-pandemia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Grand View Research, IBGE, ABF, Embrapa, Agencia Para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FROOTY  -  A Maior Fabricante de Acai do Mundo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192024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192024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Fundacao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anos de mercado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914400"/>
            <a:ext cx="192024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914400"/>
            <a:ext cx="192024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40%+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0604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060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 BR (Nielsen)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914400"/>
            <a:ext cx="192024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914400"/>
            <a:ext cx="192024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20.000+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75488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Venda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paises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03720" y="914400"/>
            <a:ext cx="192024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03720" y="914400"/>
            <a:ext cx="192024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2" name="Text 19"/>
          <p:cNvSpPr/>
          <p:nvPr/>
        </p:nvSpPr>
        <p:spPr>
          <a:xfrm>
            <a:off x="690372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R$ 591M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90372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Est. 2024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037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CAGR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Competitivos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48640" y="29718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Controlada por Patria Investimentos (desde 2014)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33009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vertical: floresta ate produto final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36301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fabricas: Pocos de Caldas (100 ton/dia) + SP (80 ton/dia)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8640" y="39593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Aquisicao Makai (EUA) - fatura R$ 130M+ nos EUA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42885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Frooty, Split Acai, Split Todo Dia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46177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dobrou em 2024 vs 2023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0292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Vertical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029200" y="29718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Amazonia (Para) - 93% producao nacional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029200" y="33009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Producao: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ton/dia em 2 fabricas proprias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029200" y="36301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20.000+ PDVs, food service, varejo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029200" y="39593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Exportacao: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paises (EUA fatura R$130M+)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029200" y="4288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Inovacao: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Todo Dia = lider volume NE/SE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029200" y="4617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Certificacao: </a:t>
            </a:r>
            <a:pPr indent="0" marL="0">
              <a:buNone/>
            </a:pPr>
            <a:r>
              <a:rPr lang="en-US" sz="10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internacionais, rastreabilidade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PROJECOES FINANCEIRAS  -  CENARIOS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914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(R$ milhoes)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80160"/>
          <a:ext cx="28346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Conserv.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350*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</a:rPr>
                        <a:t>350*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591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463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680**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532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884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1.149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704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2028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A853"/>
                          </a:solidFill>
                        </a:rPr>
                        <a:t>1.494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Confirmado por reportagens (InfoMoney, F&amp;A)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CEO declarou +15% sobre 2024 (desaceleracao)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57200" y="4114800"/>
            <a:ext cx="832104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2024: </a:t>
            </a:r>
            <a:pPr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Dobrou vs 2023 (CEO Fabio Carvalho, Business Moment). Base 2022: R$ 350M verificado. Crescimento 30% a/a confirmado por multiplas fontes.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FROOTY vs OAKBERRY  -  Dois Modelos Complementares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54680"/>
                <a:gridCol w="3154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FROOTY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OAKBERRY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Modelo de Negocio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Fabricante B2B (supply chain)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Franquia B2C (lifestyle brand)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Fundacao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1994 (30+ anos)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2016 (10 anos)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Receita 2024 (est.)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R$ 591M (base 30%)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R$ 800M (declarado)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Distribuicao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20.000+ PDVs, 15+ paises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900+ lojas, 48-50 paises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Margem EBITDA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Dobrou em 2024 (n/d publico)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23% (confirmado)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Investidor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Patria Investimentos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BTG + Moriah + Fortitude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Producao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180 ton/dia (2 fabricas)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Vertical (2 fabricas)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Market Share BR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40%+ (Nielsen)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Lider em franquias acai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Proximos Passos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IPO na B3 / venda estrategica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1.000 lojas + R$ 1B GMV (2025)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Risco Principal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Concentracao B2B, commodity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Saturacao, cambio, franquia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832104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5537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Frooty domina a cadeia produtiva. Oakberry domina o consumidor final. Juntas, cobrem o ecossistema completo do acai.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TESE DE INVESTIMENTO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0584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investir na Frooty agora?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2697480" cy="3291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34440"/>
            <a:ext cx="2697480" cy="54864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173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 Absoluta de Supply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market share BR (Nielsen)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ton/dia de capacidade produtiva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 com integracao vertical completa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3749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replicar esta posicao: 10+ anos + R$500M+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46120" y="1234440"/>
            <a:ext cx="2697480" cy="3291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46120" y="1234440"/>
            <a:ext cx="2697480" cy="54864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83280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Expansao Global Acelerada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83280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Makai (EUA) ja fatura R$ 130M+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38328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na China confirmada (2024)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383280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paises com exportacao ativa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383280" y="3749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cresce 12.6% CAGR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126480" y="1234440"/>
            <a:ext cx="2697480" cy="32918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26480" y="1234440"/>
            <a:ext cx="2697480" cy="54864"/>
          </a:xfrm>
          <a:prstGeom prst="rect">
            <a:avLst/>
          </a:prstGeom>
          <a:solidFill>
            <a:srgbClr val="D4A85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41732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63640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Claro para Liquidez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263640" y="2377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Patria Investimentos = track record IPOs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6364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Preparacao para abertura de capital (B3)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263640" y="32918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venda p/ estrategico (Nestle, JBS, 3G)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263640" y="3749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dobrando = janela ideal para exit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371600" y="4663440"/>
            <a:ext cx="6400800" cy="36576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DE SAIDA  -  Caminhos para Liquidez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508760" y="10515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371600" cy="0"/>
          </a:xfrm>
          <a:prstGeom prst="line">
            <a:avLst/>
          </a:prstGeom>
          <a:noFill/>
          <a:ln w="25400">
            <a:solidFill>
              <a:srgbClr val="D4A85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continua dobrando.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Governanca pronta para IPO.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0515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1371600" cy="0"/>
          </a:xfrm>
          <a:prstGeom prst="line">
            <a:avLst/>
          </a:prstGeom>
          <a:noFill/>
          <a:ln w="25400">
            <a:solidFill>
              <a:srgbClr val="D4A85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56616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ideal IPO na B3.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~R$ 1.1B (cenario base).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105156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via IPO ou venda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estrategico global.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1: IPO na B3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Patria tem track record de 8+ IPOs na B3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de alimentos saudaveis em alta na bolsa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602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acima de R$ 1B (2027) abre janela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Multiplo esperado: 8-12x EBITDA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imediata para todos investidores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2: Venda Estrategica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Nestle: ja atua em superfoods (comprou Acai Works)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JBS: diversificacao para saudaveis (Seara+)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602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 Capital: portfolio de alimentos premium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Danone: estrategia healthy snacking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de controle: 20-40% sobre mercado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ANALISE SWOT  -  FROOTY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4023360" cy="20116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402336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 40%+ market share BR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anos de operacao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Producao vertical 180 ton/dia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Patria Investimentos como controladora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consolidadas (Frooty + Split)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023360" cy="20116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77240"/>
            <a:ext cx="402336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do acai como commodity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B2B = menor brand awareness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financeiros nao publicos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Concentracao no mercado brasileiro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nao divulgada publicamente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017520"/>
            <a:ext cx="4023360" cy="20116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017520"/>
            <a:ext cx="402336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na B3 (preparacao em curso)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crescendo 12.6% CAGR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Expansao China + novos mercados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Aquisicoes (Makai = modelo replicavel)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Superfoods: USD 276B em 2030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023360" cy="20116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017520"/>
            <a:ext cx="402336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 na Amazonia (+70% no custo)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Oakberry integrando verticalmente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entrantes internacionais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Regulacao ambiental crescente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4572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cambial nas exportacoes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RISCOS E MITIGACAO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  <a:gridCol w="4297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Risco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Probabilidade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Mitigacao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Custo do acai (seca/clima)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</a:rPr>
                        <a:t>Alto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Contratos de longo prazo + estoque estrategico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Risco cambial (exportacoes)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2D12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2D12"/>
                          </a:solidFill>
                        </a:rPr>
                        <a:t>Medio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Hedge cambial + diversificacao geografica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Concorrencia (Oakberry, Sambazon)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2D12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2D12"/>
                          </a:solidFill>
                        </a:rPr>
                        <a:t>Medio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Lideranca de custo + integracao vertical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Regulacao ambiental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Baixa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</a:rPr>
                        <a:t>Alto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Rastreabilidade completa + certificacoes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Saturacao mercado BR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2D12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2D12"/>
                          </a:solidFill>
                        </a:rPr>
                        <a:t>Medio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Expansao internacional (EUA, China)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Atraso no IPO / exit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2D12"/>
                          </a:solidFill>
                        </a:rPr>
                        <a:t>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2D12"/>
                          </a:solidFill>
                        </a:rPr>
                        <a:t>Medio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Dividendos + opcao venda estrategica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PROXIMOS PASSOS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8288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dados financeiros detalhados, visita as fabricas, conversa com equipe executiva.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do Deal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Definicao de estrutura (equity/convertible), valuation, governance e direitos de investidor.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502920" cy="5029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Comite de Investimentos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 formal com modelo financeiro completo, cenarios e estrategia de saida.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Assinatura, transferencia de capital, assento no conselho e acompanhamento de milestones.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4434840"/>
            <a:ext cx="54864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|  lab@nuvini.com.br  |  Nuvini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Frooty - Tese de Investimento</dc:title>
  <dc:subject>PptxGenJS Presentation</dc:subject>
  <dc:creator>Nuvini</dc:creator>
  <cp:lastModifiedBy>Nuvini</cp:lastModifiedBy>
  <cp:revision>1</cp:revision>
  <dcterms:created xsi:type="dcterms:W3CDTF">2026-02-16T02:04:55Z</dcterms:created>
  <dcterms:modified xsi:type="dcterms:W3CDTF">2026-02-16T02:04:55Z</dcterms:modified>
</cp:coreProperties>
</file>