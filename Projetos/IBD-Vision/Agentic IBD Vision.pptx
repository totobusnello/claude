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77" r:id="rId23"/>
    <p:sldId id="278" r:id="rId24"/>
    <p:sldId id="279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83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777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Posicionamento: um sistema operacional de deals, AI-native, para investment banking. Galapagos AI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Tese central: o valor está na orquestração de especialistas, não em um chat genérico. Mesa digital com mandato, controle e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agora: workflows intensivos em dados encontram agentes especializados, dados proprietários, infra AWS e governança. A oportunidade é transformar a pirâmide de execução em um sistema operacional de deal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Evolução: de copilot para Deal OS. Cinco estágios, de produtividade individual a memória institucional. Ponto de inflexão: o banker aciona workflows de ponta a ponta.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do produto: Agentic Deal OS. O Judgment Corpus é o núcleo — o motor dos outros cinco módulos (Research, Valuation, Pitch, Diligence, Compliance). Um sistema operacional para execução de deals, não uma ferramenta solta de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seção 01: Arquitetura AWS / Bedrock. Camadas técnicas para rodar agentes especialistas com dados privados, ferramentas internas e governança nativa.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de referência: supervisor agent, agentes especialistas, data fabric, tool layer e governança como control plane transversal.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multiagente: o Deal Captain supervisiona cinco agentes especialistas e aciona gates humanos. Supervisor planeja, colaborador executa, verifier checa, humano aprova.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é uma unidade de controle: mandato, dados permitidos, ferramentas, autonomia, output e aprovação. Um charter operacional, não tom de voz.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Judgment Corpus é o ativo proprietário: o moat não é a persona, é o julgamento da casa que ela consulta. A persona cita precedente real; não imita estilo. Três níveis aninhados: Deal record contém Judgment Units, que contêm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MVP: digital deal team. Começar por origination-to-pitch — alto valor, baixo risco regulatório, outputs revisáveis. Seis agentes sob o Deal Captain; humano aprova antes de qualquer uso externo.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1 Origination-to-Pitch em raias: human banker, Deal Captain, specialist agents e systems. Do brief do MD ao pitchbook rastreável com comps e issues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2 Sell-side execution: mandato, materiais, data room, buyers, Q&amp;A e bids. O agente organiza; controles críticos por bidder, logs de VDR e revisão legal/compliance.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fabric e entitlements: agentes só enxergam o que estão autorizados a enxergar. Dados internos e externos passam pelo Entitlement Gateway com ABAC/RBAC, deal room, wall status 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Governança nativa, não add-on: MNPI e walls, conflitos, evidência, human gates e recordkeeping. O agente produz, verifica e escala; decisão crítica e comunicação externa seguem com humanos.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autonomia 0 a 5: começar em 0-2, expandir para 3 com controles, bloquear 4-5 por padrão. Safe zone interna; restricted zone externa sempre human-owned. Ganhar confiança em tarefas reversíveis primeiro.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seção 02: MVP e Roadmap. Um plano de 90 dias para chegar a um piloto funcional, mensurável e compatível com controles de IBD.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start: o corpus não nasce vazio. 14 anos de deals já populam o Judgment Corpus, enquanto o concorrente começa do zero. Pipeline de backfill em seis passos, com wall/entitlement já na ingestão e curadoria sênior preservando o artefato de origem.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de 90 dias em quatro ondas: foundation, MVP build, pilot e harden &amp; scale. Primeiro piloto: Origination-to-Pitch para 1 setor e 1 time de bankers.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Backlog técnico em três trilhas: Foundation, Agent Layer e Product Layer. Arquitetura modular: comprar dados, construir workflow proprietário.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KPIs: -40%/-60% no tempo até primeiro draft, 100% dos números materiais com fonte rastreável, &gt;70% de aceitação do primeiro draft, 0 outputs externos sem aprovação humana. Medição semanal.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Operating model: o time humano vira orquestrador, revisor e dono de decisão. MD/Partner, VP/Associate, Analyst, Legal/Compliance e AI Product/Eng. Analyst do futuro = gerente de agentes; banker sênior continua dono de julgamento.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 para kick-off: escopo do piloto, dados permitidos, gates humanos, métricas, templates e risk posture. Próximo deliverable: piloto funcional com 5 agentes e 1 workflow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thesis: o produto vencedor não será o melhor chat — será o melhor sistema operacional de deal execution. Dados proprietários + workflows de IBD + personas reguladas + governança nativa + AWS/Bedrock.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837980" y="-476220"/>
            <a:ext cx="10593021" cy="1123944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20" y="914400"/>
            <a:ext cx="2167950" cy="742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20" y="3497044"/>
            <a:ext cx="125730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047720" y="4078010"/>
            <a:ext cx="12573000" cy="1299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350" b="1" kern="0" spc="-10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0350" dirty="0"/>
          </a:p>
        </p:txBody>
      </p:sp>
      <p:sp>
        <p:nvSpPr>
          <p:cNvPr id="6" name="Text 2"/>
          <p:cNvSpPr/>
          <p:nvPr/>
        </p:nvSpPr>
        <p:spPr>
          <a:xfrm>
            <a:off x="1047720" y="5720804"/>
            <a:ext cx="10595610" cy="1107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4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Deal Operating System for Investment Banking</a:t>
            </a:r>
            <a:endParaRPr lang="en-US" sz="3450" dirty="0"/>
          </a:p>
        </p:txBody>
      </p:sp>
      <p:sp>
        <p:nvSpPr>
          <p:cNvPr id="7" name="Text 3"/>
          <p:cNvSpPr/>
          <p:nvPr/>
        </p:nvSpPr>
        <p:spPr>
          <a:xfrm>
            <a:off x="1047720" y="9206865"/>
            <a:ext cx="22470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242816" y="920686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80346" y="920686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83814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TESE CENTRAL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247656"/>
            <a:ext cx="15304771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está na orquestração de especialistas, não em um chat genérico.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90570" y="2655421"/>
            <a:ext cx="14716125" cy="82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chatbot. É uma mesa digital de especialistas. Cada agente nasce com mandato, dados permitidos, ferramentas autorizadas, gates humanos e trilha de auditoria.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570" y="3858875"/>
            <a:ext cx="5245120" cy="2487097"/>
          </a:xfrm>
          <a:prstGeom prst="roundRect">
            <a:avLst>
              <a:gd name="adj" fmla="val 61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58205" y="4245531"/>
            <a:ext cx="4960834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58205" y="4729341"/>
            <a:ext cx="4960834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Especialização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58205" y="5276017"/>
            <a:ext cx="4645145" cy="721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com escopo operacional claro.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21440" y="3858875"/>
            <a:ext cx="5245120" cy="2487097"/>
          </a:xfrm>
          <a:prstGeom prst="roundRect">
            <a:avLst>
              <a:gd name="adj" fmla="val 61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89075" y="4245531"/>
            <a:ext cx="4960834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89075" y="4729341"/>
            <a:ext cx="4960834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89075" y="5276017"/>
            <a:ext cx="4645145" cy="721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Permissões e revisão humana por design.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52311" y="3858875"/>
            <a:ext cx="5245120" cy="2487097"/>
          </a:xfrm>
          <a:prstGeom prst="roundRect">
            <a:avLst>
              <a:gd name="adj" fmla="val 61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419945" y="4245531"/>
            <a:ext cx="4960834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19945" y="4729341"/>
            <a:ext cx="4960834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19945" y="5276017"/>
            <a:ext cx="4645145" cy="721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Números, fontes e cálculos rastreáveis.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90570" y="6816477"/>
            <a:ext cx="438090" cy="38040"/>
          </a:xfrm>
          <a:prstGeom prst="roundRect">
            <a:avLst>
              <a:gd name="adj" fmla="val 50001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600111" y="6669763"/>
            <a:ext cx="568800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= contrato operacional, lastreada no Judgment Corpus da casa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90570" y="961834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78242" y="960691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87197" y="960691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95429" y="9606915"/>
            <a:ext cx="37820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83814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247656"/>
            <a:ext cx="17937547" cy="60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3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agora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90570" y="1982569"/>
            <a:ext cx="15304771" cy="78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IBD tem workflows intensivos em dados, documentos, modelos e revisão - exatamente o território de agentes especializados.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90570" y="2957870"/>
            <a:ext cx="3890933" cy="5163145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01055" y="3306485"/>
            <a:ext cx="359695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01055" y="3748415"/>
            <a:ext cx="3596959" cy="36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Produtividade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301055" y="4206508"/>
            <a:ext cx="3368061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Pitchbooks, pesquisas, comps, diligence e Q&amp;A têm alto volume e muita repetição.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9124" y="2957870"/>
            <a:ext cx="3891022" cy="5163145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39609" y="3306485"/>
            <a:ext cx="359705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39609" y="3748415"/>
            <a:ext cx="3597057" cy="36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proprietários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5439609" y="4206508"/>
            <a:ext cx="3368153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diferencial passa a ser memória institucional, templates, precedentes e deal history.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67766" y="2957870"/>
            <a:ext cx="3891022" cy="5163145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78251" y="3306485"/>
            <a:ext cx="359705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78251" y="3748415"/>
            <a:ext cx="3597057" cy="36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AWS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9578251" y="4206508"/>
            <a:ext cx="3368153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permite combinar agentes, Knowledge Bases, guardrails e ferramentas internas.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406408" y="2957870"/>
            <a:ext cx="3891022" cy="5163145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3716893" y="3306485"/>
            <a:ext cx="359705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716893" y="3748415"/>
            <a:ext cx="3597057" cy="36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13716893" y="4206508"/>
            <a:ext cx="3368153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desenho precisa nascer com MNPI, conflitos, entitlements e recordkeeping.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0570" y="8406765"/>
            <a:ext cx="16306860" cy="965835"/>
          </a:xfrm>
          <a:prstGeom prst="roundRect">
            <a:avLst>
              <a:gd name="adj" fmla="val 15779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371570" y="8692515"/>
            <a:ext cx="16034066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oportunidade: </a:t>
            </a:r>
            <a:r>
              <a:rPr lang="en-US" sz="2250" dirty="0">
                <a:solidFill>
                  <a:srgbClr val="FFFFFF"/>
                </a:solidFill>
                <a:highlight>
                  <a:srgbClr val="183C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transformar a pirâmide de execução em um sistema operacional de deal teams.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90570" y="961834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78242" y="960691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87197" y="960691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93643" y="9606915"/>
            <a:ext cx="379988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83814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247656"/>
            <a:ext cx="17937547" cy="60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3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copiloto para Deal OS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90570" y="1963460"/>
            <a:ext cx="16344901" cy="41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evolução da IA em Investment Banking deve sair de produtividade individual para workflow institucional.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90570" y="2622560"/>
            <a:ext cx="3108960" cy="6105317"/>
          </a:xfrm>
          <a:prstGeom prst="roundRect">
            <a:avLst>
              <a:gd name="adj" fmla="val 4902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57211" y="2946350"/>
            <a:ext cx="2833247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57211" y="3514011"/>
            <a:ext cx="283324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57211" y="3955941"/>
            <a:ext cx="265294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isoladas e drafts pontuais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0001" y="2622560"/>
            <a:ext cx="3109049" cy="6105317"/>
          </a:xfrm>
          <a:prstGeom prst="roundRect">
            <a:avLst>
              <a:gd name="adj" fmla="val 4902"/>
            </a:avLst>
          </a:prstGeom>
          <a:solidFill>
            <a:srgbClr val="D4E4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56641" y="2946350"/>
            <a:ext cx="2833345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56641" y="3514011"/>
            <a:ext cx="28333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56641" y="3955941"/>
            <a:ext cx="265304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com função e ferramentas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89520" y="2622560"/>
            <a:ext cx="3108960" cy="6105317"/>
          </a:xfrm>
          <a:prstGeom prst="roundRect">
            <a:avLst>
              <a:gd name="adj" fmla="val 4902"/>
            </a:avLst>
          </a:prstGeom>
          <a:solidFill>
            <a:srgbClr val="9CC3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56161" y="2946350"/>
            <a:ext cx="2833247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856161" y="3514011"/>
            <a:ext cx="2652949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1331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856161" y="4264551"/>
            <a:ext cx="265294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274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coordena agentes por etapa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888950" y="2622560"/>
            <a:ext cx="3109049" cy="6105317"/>
          </a:xfrm>
          <a:prstGeom prst="roundRect">
            <a:avLst>
              <a:gd name="adj" fmla="val 4902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155591" y="2946350"/>
            <a:ext cx="2833345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F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1155591" y="3514011"/>
            <a:ext cx="28333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Deal OS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155591" y="3955941"/>
            <a:ext cx="265304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DC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room, dados, gates e auditoria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88470" y="2622560"/>
            <a:ext cx="3108960" cy="6105317"/>
          </a:xfrm>
          <a:prstGeom prst="roundRect">
            <a:avLst>
              <a:gd name="adj" fmla="val 490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455111" y="2946350"/>
            <a:ext cx="2833247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4455111" y="3514011"/>
            <a:ext cx="283324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4455111" y="3955941"/>
            <a:ext cx="2652949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Corpus: 14 anos de house view codificada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0570" y="9174094"/>
            <a:ext cx="438090" cy="38040"/>
          </a:xfrm>
          <a:prstGeom prst="roundRect">
            <a:avLst>
              <a:gd name="adj" fmla="val 50001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600111" y="9013627"/>
            <a:ext cx="1295549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inflexão: </a:t>
            </a: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banker não pede apenas respostas; ele aciona workflows de ponta a ponta.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990570" y="961834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78242" y="960691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87197" y="960691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87213" y="9606915"/>
            <a:ext cx="38641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838140"/>
            <a:ext cx="44921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DO PRODUTO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247656"/>
            <a:ext cx="4492196" cy="59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Deal OS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4427072" y="1253460"/>
            <a:ext cx="2870359" cy="5466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712822" y="1386810"/>
            <a:ext cx="2384970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módulos · 1 núcleo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90570" y="2123926"/>
            <a:ext cx="16306860" cy="1438126"/>
          </a:xfrm>
          <a:prstGeom prst="roundRect">
            <a:avLst>
              <a:gd name="adj" fmla="val 1192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71511" y="2428697"/>
            <a:ext cx="64363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· O MOTOR DOS OUTROS CINCO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511" y="2781062"/>
            <a:ext cx="6436394" cy="51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Corpus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7565678" y="2857500"/>
            <a:ext cx="10285893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Precedente real da casa que cada módulo consulta — não estilo imitado.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2527905" y="3733503"/>
            <a:ext cx="19020" cy="209490"/>
          </a:xfrm>
          <a:prstGeom prst="rect">
            <a:avLst/>
          </a:prstGeom>
          <a:solidFill>
            <a:srgbClr val="CFD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31175" y="3733503"/>
            <a:ext cx="19020" cy="209490"/>
          </a:xfrm>
          <a:prstGeom prst="rect">
            <a:avLst/>
          </a:prstGeom>
          <a:solidFill>
            <a:srgbClr val="CFD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9134445" y="3733503"/>
            <a:ext cx="19020" cy="209490"/>
          </a:xfrm>
          <a:prstGeom prst="rect">
            <a:avLst/>
          </a:prstGeom>
          <a:solidFill>
            <a:srgbClr val="CFD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2437715" y="3733503"/>
            <a:ext cx="19020" cy="209490"/>
          </a:xfrm>
          <a:prstGeom prst="rect">
            <a:avLst/>
          </a:prstGeom>
          <a:solidFill>
            <a:srgbClr val="CFD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5740986" y="3733503"/>
            <a:ext cx="19020" cy="209490"/>
          </a:xfrm>
          <a:prstGeom prst="rect">
            <a:avLst/>
          </a:prstGeom>
          <a:solidFill>
            <a:srgbClr val="CFD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90570" y="4114443"/>
            <a:ext cx="3093780" cy="4600932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43905" y="4367778"/>
            <a:ext cx="2845820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43905" y="4811584"/>
            <a:ext cx="2664723" cy="641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Market, setor e companhia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93841" y="4114443"/>
            <a:ext cx="3093780" cy="4600932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47176" y="4367778"/>
            <a:ext cx="2845820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47176" y="4811584"/>
            <a:ext cx="2664723" cy="641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Comps, DCF, sensitivities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97111" y="4114443"/>
            <a:ext cx="3093780" cy="4600932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850446" y="4367778"/>
            <a:ext cx="2845820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850446" y="4811584"/>
            <a:ext cx="2664723" cy="641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Narrativa, deck e credentials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900381" y="4114443"/>
            <a:ext cx="3093780" cy="4600932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1153716" y="4367778"/>
            <a:ext cx="2845820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1153716" y="4811584"/>
            <a:ext cx="2845820" cy="339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VDR, red flags e Q&amp;A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203650" y="4114443"/>
            <a:ext cx="3093780" cy="4600932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4456986" y="4367778"/>
            <a:ext cx="2845820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4456986" y="4811584"/>
            <a:ext cx="2845820" cy="339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Conflitos, MNPI e logs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0570" y="9167843"/>
            <a:ext cx="438090" cy="38040"/>
          </a:xfrm>
          <a:prstGeom prst="roundRect">
            <a:avLst>
              <a:gd name="adj" fmla="val 50001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600111" y="9001126"/>
            <a:ext cx="118461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operacional para execução de deals, não uma ferramenta solta de texto.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90570" y="961834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078242" y="960691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287197" y="960691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999268" y="9606915"/>
            <a:ext cx="37436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3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9039344" y="-571500"/>
            <a:ext cx="10772597" cy="1143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20" y="914400"/>
            <a:ext cx="1834336" cy="628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20" y="3199061"/>
            <a:ext cx="13830300" cy="175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b="1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1"/>
          <p:cNvSpPr/>
          <p:nvPr/>
        </p:nvSpPr>
        <p:spPr>
          <a:xfrm>
            <a:off x="1047720" y="5008662"/>
            <a:ext cx="13830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AWS / Bedrock</a:t>
            </a:r>
            <a:endParaRPr lang="en-US" sz="6300" dirty="0"/>
          </a:p>
        </p:txBody>
      </p:sp>
      <p:sp>
        <p:nvSpPr>
          <p:cNvPr id="6" name="Text 2"/>
          <p:cNvSpPr/>
          <p:nvPr/>
        </p:nvSpPr>
        <p:spPr>
          <a:xfrm>
            <a:off x="1047720" y="6132552"/>
            <a:ext cx="11576624" cy="993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8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Camadas técnicas para rodar agentes especialistas com dados privados, ferramentas internas e governança nativa.</a:t>
            </a:r>
            <a:endParaRPr lang="en-US" sz="2850" dirty="0"/>
          </a:p>
        </p:txBody>
      </p:sp>
      <p:sp>
        <p:nvSpPr>
          <p:cNvPr id="7" name="Text 3"/>
          <p:cNvSpPr/>
          <p:nvPr/>
        </p:nvSpPr>
        <p:spPr>
          <a:xfrm>
            <a:off x="1047720" y="9206865"/>
            <a:ext cx="22470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242816" y="920686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80346" y="920686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de referência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781116"/>
            <a:ext cx="17937547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 + agentes especialistas + data fabric + tool layer + governança.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365474"/>
            <a:ext cx="12839820" cy="1268909"/>
          </a:xfrm>
          <a:prstGeom prst="roundRect">
            <a:avLst>
              <a:gd name="adj" fmla="val 1050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62926" y="2864912"/>
            <a:ext cx="2724117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3987016" y="2774186"/>
            <a:ext cx="2350115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58466" y="2859911"/>
            <a:ext cx="208341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Banker workspace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51432" y="2774186"/>
            <a:ext cx="1423124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2882" y="2859911"/>
            <a:ext cx="1156424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room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88856" y="2774186"/>
            <a:ext cx="2341364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160306" y="2859911"/>
            <a:ext cx="2074664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launcher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44521" y="2774186"/>
            <a:ext cx="1928634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615971" y="2859911"/>
            <a:ext cx="1661934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inbox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0570" y="3786724"/>
            <a:ext cx="12839820" cy="1257568"/>
          </a:xfrm>
          <a:prstGeom prst="roundRect">
            <a:avLst>
              <a:gd name="adj" fmla="val 10604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57211" y="4280446"/>
            <a:ext cx="2724117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Layer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3981301" y="4262319"/>
            <a:ext cx="8368413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Agent como Deal Captain: planeja, roteia e consolida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90570" y="5196632"/>
            <a:ext cx="12839820" cy="1268909"/>
          </a:xfrm>
          <a:prstGeom prst="roundRect">
            <a:avLst>
              <a:gd name="adj" fmla="val 1050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262926" y="5696069"/>
            <a:ext cx="2724117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3987016" y="5605344"/>
            <a:ext cx="1802011" cy="451485"/>
          </a:xfrm>
          <a:prstGeom prst="roundRect">
            <a:avLst>
              <a:gd name="adj" fmla="val 16878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158466" y="5691069"/>
            <a:ext cx="153531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03327" y="5605344"/>
            <a:ext cx="1358384" cy="451485"/>
          </a:xfrm>
          <a:prstGeom prst="roundRect">
            <a:avLst>
              <a:gd name="adj" fmla="val 16878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074777" y="5691069"/>
            <a:ext cx="1091684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76011" y="5605344"/>
            <a:ext cx="1437680" cy="451485"/>
          </a:xfrm>
          <a:prstGeom prst="roundRect">
            <a:avLst>
              <a:gd name="adj" fmla="val 16878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547461" y="5691069"/>
            <a:ext cx="117098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927991" y="5605344"/>
            <a:ext cx="818138" cy="451485"/>
          </a:xfrm>
          <a:prstGeom prst="roundRect">
            <a:avLst>
              <a:gd name="adj" fmla="val 16878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099441" y="5691069"/>
            <a:ext cx="551438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60430" y="5605344"/>
            <a:ext cx="1425089" cy="451485"/>
          </a:xfrm>
          <a:prstGeom prst="roundRect">
            <a:avLst>
              <a:gd name="adj" fmla="val 16878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0031880" y="5691069"/>
            <a:ext cx="1158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399818" y="5605344"/>
            <a:ext cx="1641723" cy="451485"/>
          </a:xfrm>
          <a:prstGeom prst="roundRect">
            <a:avLst>
              <a:gd name="adj" fmla="val 16878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1571268" y="5691069"/>
            <a:ext cx="137502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90570" y="6617881"/>
            <a:ext cx="12839820" cy="13716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262926" y="7033647"/>
            <a:ext cx="255267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&amp; Data Layer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3987016" y="6795046"/>
            <a:ext cx="3232993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158466" y="6880771"/>
            <a:ext cx="298708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Knowledge Bases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34310" y="6795046"/>
            <a:ext cx="630793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505760" y="6880771"/>
            <a:ext cx="36409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79403" y="6795046"/>
            <a:ext cx="3060650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8250853" y="6880771"/>
            <a:ext cx="280957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OpenSearch/vector store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254354" y="6795046"/>
            <a:ext cx="863501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11425804" y="6880771"/>
            <a:ext cx="59680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232155" y="6795046"/>
            <a:ext cx="812780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2403605" y="6880771"/>
            <a:ext cx="54608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987016" y="7360831"/>
            <a:ext cx="1626453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158466" y="7446556"/>
            <a:ext cx="135975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90570" y="8141822"/>
            <a:ext cx="12839820" cy="1268909"/>
          </a:xfrm>
          <a:prstGeom prst="roundRect">
            <a:avLst>
              <a:gd name="adj" fmla="val 1050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262926" y="8506242"/>
            <a:ext cx="255267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Execution Layer</a:t>
            </a:r>
            <a:endParaRPr lang="en-US" sz="2025" dirty="0"/>
          </a:p>
        </p:txBody>
      </p:sp>
      <p:sp>
        <p:nvSpPr>
          <p:cNvPr id="48" name="Shape 46"/>
          <p:cNvSpPr/>
          <p:nvPr/>
        </p:nvSpPr>
        <p:spPr>
          <a:xfrm>
            <a:off x="3987016" y="8550533"/>
            <a:ext cx="1209080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158466" y="8636258"/>
            <a:ext cx="94238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310396" y="8550533"/>
            <a:ext cx="1950690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5481846" y="8636258"/>
            <a:ext cx="168399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375386" y="8550533"/>
            <a:ext cx="2220099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7546836" y="8636258"/>
            <a:ext cx="195339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generation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709785" y="8550533"/>
            <a:ext cx="828675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9881235" y="8636258"/>
            <a:ext cx="56197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0652760" y="8550533"/>
            <a:ext cx="2572911" cy="451485"/>
          </a:xfrm>
          <a:prstGeom prst="roundRect">
            <a:avLst>
              <a:gd name="adj" fmla="val 16878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10824210" y="8636258"/>
            <a:ext cx="2307198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extraction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4058990" y="2365474"/>
            <a:ext cx="3238441" cy="7045256"/>
          </a:xfrm>
          <a:prstGeom prst="roundRect">
            <a:avLst>
              <a:gd name="adj" fmla="val 4118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14344740" y="2651224"/>
            <a:ext cx="29336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Layer</a:t>
            </a:r>
            <a:endParaRPr lang="en-US" sz="2025" dirty="0"/>
          </a:p>
        </p:txBody>
      </p:sp>
      <p:sp>
        <p:nvSpPr>
          <p:cNvPr id="60" name="Text 58"/>
          <p:cNvSpPr/>
          <p:nvPr/>
        </p:nvSpPr>
        <p:spPr>
          <a:xfrm>
            <a:off x="14344740" y="3005554"/>
            <a:ext cx="293363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4344740" y="3495080"/>
            <a:ext cx="293363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4344740" y="3898880"/>
            <a:ext cx="293363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4344740" y="4302681"/>
            <a:ext cx="293363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4344740" y="4706481"/>
            <a:ext cx="293363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4344740" y="5110282"/>
            <a:ext cx="293363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4344740" y="5514082"/>
            <a:ext cx="293363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approvals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4344740" y="5917883"/>
            <a:ext cx="293363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009984" y="9626025"/>
            <a:ext cx="36364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80010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MULTIAGENTE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90595"/>
            <a:ext cx="17937547" cy="57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multiagente no Bedrock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90570" y="1838266"/>
            <a:ext cx="17937547" cy="387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02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agente supervisor coordena colaboradores especialistas e aciona gates humanos.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6667530" y="2473702"/>
            <a:ext cx="4952941" cy="1167646"/>
          </a:xfrm>
          <a:prstGeom prst="roundRect">
            <a:avLst>
              <a:gd name="adj" fmla="val 11420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922803" y="2683193"/>
            <a:ext cx="444239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324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22803" y="3020378"/>
            <a:ext cx="444239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Captain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34445" y="3850838"/>
            <a:ext cx="19020" cy="171450"/>
          </a:xfrm>
          <a:prstGeom prst="rect">
            <a:avLst/>
          </a:prstGeom>
          <a:solidFill>
            <a:srgbClr val="CFD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90570" y="4231779"/>
            <a:ext cx="3108960" cy="794653"/>
          </a:xfrm>
          <a:prstGeom prst="roundRect">
            <a:avLst>
              <a:gd name="adj" fmla="val 16781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40151" y="4485144"/>
            <a:ext cx="2809799" cy="326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4290001" y="4231779"/>
            <a:ext cx="3109049" cy="794653"/>
          </a:xfrm>
          <a:prstGeom prst="roundRect">
            <a:avLst>
              <a:gd name="adj" fmla="val 16781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439580" y="4485144"/>
            <a:ext cx="2809891" cy="326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Agent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7589520" y="4231779"/>
            <a:ext cx="3108960" cy="794653"/>
          </a:xfrm>
          <a:prstGeom prst="roundRect">
            <a:avLst>
              <a:gd name="adj" fmla="val 16781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39101" y="4485144"/>
            <a:ext cx="2809799" cy="326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 Architect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888950" y="4231779"/>
            <a:ext cx="3109049" cy="794653"/>
          </a:xfrm>
          <a:prstGeom prst="roundRect">
            <a:avLst>
              <a:gd name="adj" fmla="val 16781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038530" y="4485144"/>
            <a:ext cx="2809891" cy="326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 Extractor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4188470" y="4231779"/>
            <a:ext cx="3108960" cy="794653"/>
          </a:xfrm>
          <a:prstGeom prst="roundRect">
            <a:avLst>
              <a:gd name="adj" fmla="val 16781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4338051" y="4485144"/>
            <a:ext cx="2809799" cy="326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QA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90570" y="5293072"/>
            <a:ext cx="8029576" cy="4117658"/>
          </a:xfrm>
          <a:prstGeom prst="roundRect">
            <a:avLst>
              <a:gd name="adj" fmla="val 3701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339185" y="5622578"/>
            <a:ext cx="8065580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39185" y="6104513"/>
            <a:ext cx="755231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VP/MD, Legal, Compliance e cliente aprovam outputs críticos.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267766" y="5293072"/>
            <a:ext cx="8029665" cy="4117658"/>
          </a:xfrm>
          <a:prstGeom prst="roundRect">
            <a:avLst>
              <a:gd name="adj" fmla="val 3701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616381" y="5622578"/>
            <a:ext cx="8065678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operacional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616381" y="6104513"/>
            <a:ext cx="755240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planeja, colaborador executa, verifier checa, humano aprova.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93464" y="9626025"/>
            <a:ext cx="38016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como contrato operacional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60896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 é uma unidade de controle: define escopo, dados, ferramentas, autonomia e aprovação. Não é apenas "tom de voz". Em IBD, persona precisa funcionar como um charter operacional que limita comportamento, acesso e responsabilidade.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90570" y="2666851"/>
            <a:ext cx="5790367" cy="575250"/>
          </a:xfrm>
          <a:prstGeom prst="roundRect">
            <a:avLst>
              <a:gd name="adj" fmla="val 50000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95341" y="2805887"/>
            <a:ext cx="111400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466469" y="2800172"/>
            <a:ext cx="23193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755523" y="2805887"/>
            <a:ext cx="130626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permissão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18908" y="2800172"/>
            <a:ext cx="23193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07962" y="2805887"/>
            <a:ext cx="120294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668030" y="2800172"/>
            <a:ext cx="23193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957084" y="2805887"/>
            <a:ext cx="59528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90570" y="3470702"/>
            <a:ext cx="5295930" cy="2865269"/>
          </a:xfrm>
          <a:prstGeom prst="roundRect">
            <a:avLst>
              <a:gd name="adj" fmla="val 4654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82035" y="3724037"/>
            <a:ext cx="5184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282035" y="4139267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o agente existe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95991" y="3470702"/>
            <a:ext cx="5295930" cy="2865269"/>
          </a:xfrm>
          <a:prstGeom prst="roundRect">
            <a:avLst>
              <a:gd name="adj" fmla="val 4654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87455" y="3724037"/>
            <a:ext cx="5184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permitidos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6787455" y="4139267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Cliente, deal room, fonte e wall status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01412" y="3470702"/>
            <a:ext cx="5295930" cy="2865269"/>
          </a:xfrm>
          <a:prstGeom prst="roundRect">
            <a:avLst>
              <a:gd name="adj" fmla="val 4654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292876" y="3724037"/>
            <a:ext cx="5184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2292876" y="4139267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Excel, PPT, CRM, VDR, APIs, Lambda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90570" y="6545461"/>
            <a:ext cx="5295930" cy="2865269"/>
          </a:xfrm>
          <a:prstGeom prst="roundRect">
            <a:avLst>
              <a:gd name="adj" fmla="val 4654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282035" y="6798797"/>
            <a:ext cx="5184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1282035" y="7214027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Pesquisa, draft, update interno ou workflow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5991" y="6545461"/>
            <a:ext cx="5295930" cy="2865269"/>
          </a:xfrm>
          <a:prstGeom prst="roundRect">
            <a:avLst>
              <a:gd name="adj" fmla="val 4654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787455" y="6798797"/>
            <a:ext cx="5184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6787455" y="7214027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Formato, fonte, confidence e limitações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001412" y="6545461"/>
            <a:ext cx="5295930" cy="2865269"/>
          </a:xfrm>
          <a:prstGeom prst="roundRect">
            <a:avLst>
              <a:gd name="adj" fmla="val 4654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2292876" y="6798797"/>
            <a:ext cx="5184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12292876" y="7214027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Associate, VP, MD, Legal ou Compliance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993107" y="9626025"/>
            <a:ext cx="380524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 PROPRIETÁRIO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Corpus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183068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moat não é a persona — é o julgamento da casa que ela consulta. A persona cita precedente real; não imita estilo.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365474"/>
            <a:ext cx="16306860" cy="5767239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01055" y="2677835"/>
            <a:ext cx="35168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28877" y="2637830"/>
            <a:ext cx="162476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record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358277" y="2677835"/>
            <a:ext cx="14991535" cy="331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72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Setor, tipo (sell/buy-side), faixa de EV, período, team lead e outcome (fechou/abortou; múltiplo final vs. expectativa).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301055" y="3142804"/>
            <a:ext cx="15685890" cy="4717554"/>
          </a:xfrm>
          <a:prstGeom prst="roundRect">
            <a:avLst>
              <a:gd name="adj" fmla="val 2827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586805" y="3430429"/>
            <a:ext cx="35168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14627" y="3390424"/>
            <a:ext cx="2026709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Unit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009430" y="3420963"/>
            <a:ext cx="1231940" cy="316111"/>
          </a:xfrm>
          <a:prstGeom prst="roundRect">
            <a:avLst>
              <a:gd name="adj" fmla="val 50000"/>
            </a:avLst>
          </a:prstGeom>
          <a:solidFill>
            <a:srgbClr val="7FB2E6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42780" y="3459063"/>
            <a:ext cx="1088434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kern="0" spc="189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ATIVO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393710" y="3441859"/>
            <a:ext cx="2539648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por decisão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1586805" y="3889415"/>
            <a:ext cx="1226761" cy="434340"/>
          </a:xfrm>
          <a:prstGeom prst="roundRect">
            <a:avLst>
              <a:gd name="adj" fmla="val 1754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748730" y="3975140"/>
            <a:ext cx="979111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2927866" y="3889415"/>
            <a:ext cx="1133892" cy="434340"/>
          </a:xfrm>
          <a:prstGeom prst="roundRect">
            <a:avLst>
              <a:gd name="adj" fmla="val 1754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089791" y="3975140"/>
            <a:ext cx="886242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4176058" y="3889415"/>
            <a:ext cx="2363688" cy="434340"/>
          </a:xfrm>
          <a:prstGeom prst="roundRect">
            <a:avLst>
              <a:gd name="adj" fmla="val 1754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337983" y="3975140"/>
            <a:ext cx="2116038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(o porquê)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6654046" y="3889415"/>
            <a:ext cx="2867769" cy="434340"/>
          </a:xfrm>
          <a:prstGeom prst="roundRect">
            <a:avLst>
              <a:gd name="adj" fmla="val 1754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815971" y="3975140"/>
            <a:ext cx="2629952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descartadas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9636115" y="3889415"/>
            <a:ext cx="1724501" cy="434340"/>
          </a:xfrm>
          <a:prstGeom prst="roundRect">
            <a:avLst>
              <a:gd name="adj" fmla="val 1754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798040" y="3975140"/>
            <a:ext cx="1476851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usados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1474917" y="3889415"/>
            <a:ext cx="1725484" cy="434340"/>
          </a:xfrm>
          <a:prstGeom prst="roundRect">
            <a:avLst>
              <a:gd name="adj" fmla="val 1754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1636842" y="3975140"/>
            <a:ext cx="1477834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decidiu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13314700" y="3889415"/>
            <a:ext cx="1389459" cy="434340"/>
          </a:xfrm>
          <a:prstGeom prst="roundRect">
            <a:avLst>
              <a:gd name="adj" fmla="val 1754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3476625" y="3975140"/>
            <a:ext cx="1141809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convicção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586805" y="4438055"/>
            <a:ext cx="1982391" cy="434340"/>
          </a:xfrm>
          <a:prstGeom prst="roundRect">
            <a:avLst>
              <a:gd name="adj" fmla="val 1754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748730" y="4523780"/>
            <a:ext cx="1734741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&amp; lição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586805" y="6317486"/>
            <a:ext cx="15114390" cy="1295251"/>
          </a:xfrm>
          <a:prstGeom prst="roundRect">
            <a:avLst>
              <a:gd name="adj" fmla="val 8825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834426" y="6549837"/>
            <a:ext cx="35168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2262247" y="6526977"/>
            <a:ext cx="117321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3511600" y="6566982"/>
            <a:ext cx="68952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IQ · Bloomberg · Valor · nota explicativa de balanço · ata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834426" y="6968907"/>
            <a:ext cx="866180" cy="434340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996351" y="7054632"/>
            <a:ext cx="61853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2814906" y="6968907"/>
            <a:ext cx="721340" cy="434340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2976831" y="7054632"/>
            <a:ext cx="47369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3650546" y="6968907"/>
            <a:ext cx="783669" cy="434340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812471" y="7054632"/>
            <a:ext cx="536019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4548515" y="6968907"/>
            <a:ext cx="1504027" cy="434340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710440" y="7054632"/>
            <a:ext cx="1256377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6166842" y="6968907"/>
            <a:ext cx="829836" cy="434340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328767" y="7054632"/>
            <a:ext cx="582186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990570" y="8342204"/>
            <a:ext cx="16306860" cy="1068526"/>
          </a:xfrm>
          <a:prstGeom prst="roundRect">
            <a:avLst>
              <a:gd name="adj" fmla="val 12480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339185" y="8557469"/>
            <a:ext cx="16098836" cy="676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Heurísticas da casa </a:t>
            </a:r>
            <a:r>
              <a:rPr lang="en-US" sz="1875" dirty="0">
                <a:solidFill>
                  <a:srgbClr val="3F5675"/>
                </a:solidFill>
                <a:highlight>
                  <a:srgbClr val="EAF2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destiladas de N decisões reais — "recusamos quando dívida fiscal/REFIS &gt; X% do EV". É isto que a persona "Carlos" cita.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7041863" y="9626025"/>
            <a:ext cx="331768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13234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132346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digital deal team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1323461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por origination-to-pitch: alto valor, baixo risco regulatório e outputs revisáveis.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4397871" y="1144429"/>
            <a:ext cx="2899559" cy="992446"/>
          </a:xfrm>
          <a:prstGeom prst="roundRect">
            <a:avLst>
              <a:gd name="adj" fmla="val 11517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4567218" y="1315879"/>
            <a:ext cx="256086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288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ORQUESTRADOR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67218" y="1633954"/>
            <a:ext cx="2560865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Captain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90570" y="2384495"/>
            <a:ext cx="5295930" cy="3124498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82035" y="2637830"/>
            <a:ext cx="518430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82035" y="3064490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Triggers, setor e oportunidades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5991" y="2384495"/>
            <a:ext cx="5295930" cy="3124498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787455" y="2637830"/>
            <a:ext cx="518430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Universe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787455" y="3064490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list, short list e rationale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01412" y="2384495"/>
            <a:ext cx="5295930" cy="3124498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2292876" y="2637830"/>
            <a:ext cx="518430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&amp; Comps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292876" y="3064490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Multiples, precedents e ranges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570" y="5718483"/>
            <a:ext cx="5295930" cy="3124587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82035" y="5971818"/>
            <a:ext cx="518430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 Architect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82035" y="6398479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Narrativa e deck preliminar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95991" y="5718483"/>
            <a:ext cx="5295930" cy="3124587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787455" y="5971818"/>
            <a:ext cx="518430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QA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787455" y="6398479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Fonte, cálculo e consistência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01412" y="5718483"/>
            <a:ext cx="5295930" cy="3124587"/>
          </a:xfrm>
          <a:prstGeom prst="roundRect">
            <a:avLst>
              <a:gd name="adj" fmla="val 4268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2292876" y="5971818"/>
            <a:ext cx="518430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Pre-check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292876" y="6398479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MNPI, conflitos e linguagem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90570" y="9231690"/>
            <a:ext cx="438090" cy="38040"/>
          </a:xfrm>
          <a:prstGeom prst="roundRect">
            <a:avLst>
              <a:gd name="adj" fmla="val 50001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600111" y="9090690"/>
            <a:ext cx="63004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 aprova antes de qualquer uso externo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7093119" y="9626025"/>
            <a:ext cx="28051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1: Origination-to-Pitch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914436"/>
            <a:ext cx="2171641" cy="1516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banker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70" y="3526512"/>
            <a:ext cx="2171641" cy="1516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Captain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990570" y="5138678"/>
            <a:ext cx="2171641" cy="1516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90570" y="6750844"/>
            <a:ext cx="2171641" cy="1516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219331" y="6750844"/>
            <a:ext cx="14078010" cy="1478846"/>
          </a:xfrm>
          <a:prstGeom prst="roundRect">
            <a:avLst>
              <a:gd name="adj" fmla="val 7729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008161" y="6750844"/>
            <a:ext cx="14500351" cy="1516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· VDR · market data · deal room</a:t>
            </a:r>
            <a:endParaRPr 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19331" y="1914436"/>
            <a:ext cx="1896844" cy="1478756"/>
          </a:xfrm>
          <a:prstGeom prst="roundRect">
            <a:avLst>
              <a:gd name="adj" fmla="val 7729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377387" y="2533799"/>
            <a:ext cx="173880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do MD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49496" y="3526512"/>
            <a:ext cx="1896844" cy="1478846"/>
          </a:xfrm>
          <a:prstGeom prst="roundRect">
            <a:avLst>
              <a:gd name="adj" fmla="val 7729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01836" y="4145875"/>
            <a:ext cx="175138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79660" y="3526512"/>
            <a:ext cx="1896934" cy="1478846"/>
          </a:xfrm>
          <a:prstGeom prst="roundRect">
            <a:avLst>
              <a:gd name="adj" fmla="val 7729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432000" y="3831550"/>
            <a:ext cx="175147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32000" y="4128731"/>
            <a:ext cx="166845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tarefas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09914" y="5138678"/>
            <a:ext cx="1896844" cy="1478846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467969" y="5443717"/>
            <a:ext cx="173880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67969" y="5740896"/>
            <a:ext cx="165693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+ targets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340079" y="5138678"/>
            <a:ext cx="1896934" cy="1478846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1498134" y="5443717"/>
            <a:ext cx="173890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98134" y="5740896"/>
            <a:ext cx="165702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 + range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370333" y="5138678"/>
            <a:ext cx="1896844" cy="1478846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3442105" y="5443717"/>
            <a:ext cx="173880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81340" y="5817067"/>
            <a:ext cx="17388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draft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400497" y="3526512"/>
            <a:ext cx="1896844" cy="1478846"/>
          </a:xfrm>
          <a:prstGeom prst="roundRect">
            <a:avLst>
              <a:gd name="adj" fmla="val 7729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5552838" y="3974425"/>
            <a:ext cx="175138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52838" y="4271606"/>
            <a:ext cx="1751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+ gate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0570" y="8458290"/>
            <a:ext cx="16306860" cy="952440"/>
          </a:xfrm>
          <a:prstGeom prst="roundRect">
            <a:avLst>
              <a:gd name="adj" fmla="val 14001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352520" y="8705940"/>
            <a:ext cx="16072166" cy="49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r>
              <a:rPr lang="en-US" sz="2250" dirty="0">
                <a:solidFill>
                  <a:srgbClr val="FFFFFF"/>
                </a:solidFill>
                <a:highlight>
                  <a:srgbClr val="183C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pitchbook rastreável + comps + issues list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046685" y="9626025"/>
            <a:ext cx="326946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2: Sell-side execution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6973551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não roda o deal sozinho; ele organiza materiais, diligence, Q&amp;A e comparação de bids.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384495"/>
            <a:ext cx="2574875" cy="5980391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224885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86785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4885" y="3247370"/>
            <a:ext cx="231687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24885" y="3668673"/>
            <a:ext cx="2182445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letter + kickoff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36896" y="2384495"/>
            <a:ext cx="2574965" cy="5980391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971211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933111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1211" y="3247370"/>
            <a:ext cx="2316968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1211" y="3668673"/>
            <a:ext cx="2182535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Teaser, CIM, management deck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83311" y="2384495"/>
            <a:ext cx="2574875" cy="5980391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717625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9525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17625" y="3247370"/>
            <a:ext cx="231687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717625" y="3668673"/>
            <a:ext cx="2182445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 index + red flags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29636" y="2384495"/>
            <a:ext cx="2574965" cy="5980391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9463951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425851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63951" y="3247370"/>
            <a:ext cx="2316968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463951" y="3668673"/>
            <a:ext cx="2182535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 + NDA tracker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976050" y="2384495"/>
            <a:ext cx="2574965" cy="5980391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2210366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172266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210366" y="3247370"/>
            <a:ext cx="2316968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210366" y="3668673"/>
            <a:ext cx="2182535" cy="95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Perguntas, respostas e owners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722465" y="2384495"/>
            <a:ext cx="2574875" cy="5980391"/>
          </a:xfrm>
          <a:prstGeom prst="roundRect">
            <a:avLst>
              <a:gd name="adj" fmla="val 5179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4951065" y="265113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FB2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4912965" y="265113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951065" y="3241655"/>
            <a:ext cx="2329443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4951065" y="3662958"/>
            <a:ext cx="2193876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+ negotiation memo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90570" y="8612505"/>
            <a:ext cx="16306860" cy="798225"/>
          </a:xfrm>
          <a:prstGeom prst="roundRect">
            <a:avLst>
              <a:gd name="adj" fmla="val 16706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339185" y="8846820"/>
            <a:ext cx="16098836" cy="36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críticos: </a:t>
            </a:r>
            <a:r>
              <a:rPr lang="en-US" sz="1875" dirty="0">
                <a:solidFill>
                  <a:srgbClr val="3F5675"/>
                </a:solidFill>
                <a:highlight>
                  <a:srgbClr val="EAF2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segregação por bidder, logs de acesso ao VDR, aprovação de respostas e revisão legal/compliance.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7044899" y="9626025"/>
            <a:ext cx="32873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FABRIC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fabric &amp; entitlements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937547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visual e técnica: agentes só enxergam o que estão autorizados a enxergar.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384495"/>
            <a:ext cx="6395085" cy="3158788"/>
          </a:xfrm>
          <a:prstGeom prst="roundRect">
            <a:avLst>
              <a:gd name="adj" fmla="val 4222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62926" y="2618810"/>
            <a:ext cx="643541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internos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262926" y="3049310"/>
            <a:ext cx="825282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15326" y="3125510"/>
            <a:ext cx="596682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83398" y="3049310"/>
            <a:ext cx="1592163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335798" y="3125510"/>
            <a:ext cx="1363563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history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70752" y="3049310"/>
            <a:ext cx="1504652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023152" y="3125510"/>
            <a:ext cx="1276052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62926" y="3576876"/>
            <a:ext cx="1875235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415326" y="3653076"/>
            <a:ext cx="1646635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Excel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33351" y="3576876"/>
            <a:ext cx="2136606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385751" y="3653076"/>
            <a:ext cx="1908006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interno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62926" y="4104442"/>
            <a:ext cx="2147322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415326" y="4180642"/>
            <a:ext cx="1918722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de reunião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0570" y="5714733"/>
            <a:ext cx="6395085" cy="3158788"/>
          </a:xfrm>
          <a:prstGeom prst="roundRect">
            <a:avLst>
              <a:gd name="adj" fmla="val 4222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62926" y="5949047"/>
            <a:ext cx="643541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externos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262926" y="6379548"/>
            <a:ext cx="1980158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15326" y="6455748"/>
            <a:ext cx="1751558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 públicos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38274" y="6379548"/>
            <a:ext cx="1594485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490674" y="6455748"/>
            <a:ext cx="1365885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7950" y="6379548"/>
            <a:ext cx="1516886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180350" y="6455748"/>
            <a:ext cx="1288286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62926" y="6907113"/>
            <a:ext cx="1179165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415326" y="6983313"/>
            <a:ext cx="950565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Notícias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537281" y="6907113"/>
            <a:ext cx="2234565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689681" y="6983313"/>
            <a:ext cx="2005965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licenciadas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867037" y="6907113"/>
            <a:ext cx="1343025" cy="432375"/>
          </a:xfrm>
          <a:prstGeom prst="roundRect">
            <a:avLst>
              <a:gd name="adj" fmla="val 17624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019437" y="6983313"/>
            <a:ext cx="1114425" cy="318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KYC/AML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595146" y="2384495"/>
            <a:ext cx="2857500" cy="6489025"/>
          </a:xfrm>
          <a:prstGeom prst="roundRect">
            <a:avLst>
              <a:gd name="adj" fmla="val 5333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804666" y="4648170"/>
            <a:ext cx="243846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288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804666" y="5341561"/>
            <a:ext cx="2438460" cy="778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Entitlement Gateway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8823811" y="6215509"/>
            <a:ext cx="400080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37" name="Shape 35"/>
          <p:cNvSpPr/>
          <p:nvPr/>
        </p:nvSpPr>
        <p:spPr>
          <a:xfrm>
            <a:off x="10662136" y="2384495"/>
            <a:ext cx="6635294" cy="6489025"/>
          </a:xfrm>
          <a:prstGeom prst="roundRect">
            <a:avLst>
              <a:gd name="adj" fmla="val 2349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0934492" y="2618810"/>
            <a:ext cx="669964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autorizados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10934492" y="3068330"/>
            <a:ext cx="6090583" cy="508635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11105942" y="3182630"/>
            <a:ext cx="59304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934492" y="3691265"/>
            <a:ext cx="6090583" cy="508635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1105942" y="3805565"/>
            <a:ext cx="59304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934492" y="4314200"/>
            <a:ext cx="6090583" cy="508635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11105942" y="4428500"/>
            <a:ext cx="59304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 Extractor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934492" y="4937135"/>
            <a:ext cx="6090583" cy="508635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1105942" y="5051435"/>
            <a:ext cx="59304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 Architect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934492" y="5560070"/>
            <a:ext cx="6090583" cy="508635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1105942" y="5674370"/>
            <a:ext cx="59304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934492" y="6183005"/>
            <a:ext cx="6090583" cy="508635"/>
          </a:xfrm>
          <a:prstGeom prst="roundRect">
            <a:avLst>
              <a:gd name="adj" fmla="val 168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1105942" y="6297305"/>
            <a:ext cx="59304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90570" y="9237405"/>
            <a:ext cx="438090" cy="38040"/>
          </a:xfrm>
          <a:prstGeom prst="roundRect">
            <a:avLst>
              <a:gd name="adj" fmla="val 50001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600111" y="9102120"/>
            <a:ext cx="656212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ABAC/RBAC + deal room + wall status + audit trail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7038469" y="9626025"/>
            <a:ext cx="33516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nativa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937547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IBD, governança não é add-on; é parte do produto.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422624"/>
            <a:ext cx="3124141" cy="5870377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05776" y="2675960"/>
            <a:ext cx="296310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05776" y="3070295"/>
            <a:ext cx="2963103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MNPI &amp; walls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05776" y="3462308"/>
            <a:ext cx="2774542" cy="128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Segregação de informações materiais não públicas e controle por deal/client.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86161" y="2422624"/>
            <a:ext cx="3124230" cy="5870377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01366" y="2675960"/>
            <a:ext cx="296320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501366" y="3070295"/>
            <a:ext cx="2963201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Conflitos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4501366" y="3462308"/>
            <a:ext cx="2774634" cy="1592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Checagem de relacionamento, mandatos, restricted/watch lists e escalation.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81841" y="2422624"/>
            <a:ext cx="3124230" cy="5870377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97046" y="2675960"/>
            <a:ext cx="296320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797046" y="3070295"/>
            <a:ext cx="2963201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7797046" y="3462308"/>
            <a:ext cx="2774634" cy="97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número e recomendação material cita fonte, cálculo, precedente do corpus e versão rastreável.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877521" y="2422624"/>
            <a:ext cx="3124230" cy="5870377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092726" y="2675960"/>
            <a:ext cx="296320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092726" y="3070295"/>
            <a:ext cx="2963201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gates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1092726" y="3462308"/>
            <a:ext cx="2774634" cy="128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client-facing e decisões reguladas permanecem human-owned.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73200" y="2422624"/>
            <a:ext cx="3124230" cy="5870377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388405" y="2675960"/>
            <a:ext cx="296320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388405" y="3070295"/>
            <a:ext cx="2963201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Recordkeeping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4388405" y="3462308"/>
            <a:ext cx="2774634" cy="97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Inputs, tool calls, fontes, outputs, versões e aprovações gravados.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0570" y="8540621"/>
            <a:ext cx="16306860" cy="870109"/>
          </a:xfrm>
          <a:prstGeom prst="roundRect">
            <a:avLst>
              <a:gd name="adj" fmla="val 15326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352520" y="8788271"/>
            <a:ext cx="16072166" cy="412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Princípio: </a:t>
            </a:r>
            <a:r>
              <a:rPr lang="en-US" sz="2100" dirty="0">
                <a:solidFill>
                  <a:srgbClr val="FFFFFF"/>
                </a:solidFill>
                <a:highlight>
                  <a:srgbClr val="183C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 agente pode produzir, verificar e escalar; decisão crítica e comunicação externa continuam com humanos.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050524" y="9626025"/>
            <a:ext cx="323106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autonomia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937547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com níveis 0-2; expandir para 3 com controles; bloquear 4-5 por padrão.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460665"/>
            <a:ext cx="2590860" cy="1645831"/>
          </a:xfrm>
          <a:prstGeom prst="roundRect">
            <a:avLst>
              <a:gd name="adj" fmla="val 8102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00061" y="2727305"/>
            <a:ext cx="2389066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00061" y="3306396"/>
            <a:ext cx="2389066" cy="30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&amp; resumo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733770" y="2460665"/>
            <a:ext cx="2590860" cy="1645831"/>
          </a:xfrm>
          <a:prstGeom prst="roundRect">
            <a:avLst>
              <a:gd name="adj" fmla="val 8102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943261" y="2727305"/>
            <a:ext cx="2389066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943261" y="3306396"/>
            <a:ext cx="2389066" cy="30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interno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476970" y="2460665"/>
            <a:ext cx="2590860" cy="1645831"/>
          </a:xfrm>
          <a:prstGeom prst="roundRect">
            <a:avLst>
              <a:gd name="adj" fmla="val 8102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86461" y="2727305"/>
            <a:ext cx="2389066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6686461" y="3306396"/>
            <a:ext cx="2389066" cy="30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interno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20170" y="2460665"/>
            <a:ext cx="2590860" cy="1645831"/>
          </a:xfrm>
          <a:prstGeom prst="roundRect">
            <a:avLst>
              <a:gd name="adj" fmla="val 8102"/>
            </a:avLst>
          </a:prstGeom>
          <a:solidFill>
            <a:srgbClr val="9CC3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429661" y="2727305"/>
            <a:ext cx="2389066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B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429661" y="3306396"/>
            <a:ext cx="2389066" cy="30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1331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interno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963371" y="2460665"/>
            <a:ext cx="2590860" cy="1645831"/>
          </a:xfrm>
          <a:prstGeom prst="roundRect">
            <a:avLst>
              <a:gd name="adj" fmla="val 810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172862" y="2727305"/>
            <a:ext cx="2389066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2172862" y="3306396"/>
            <a:ext cx="2248079" cy="57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externa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4706571" y="2460665"/>
            <a:ext cx="2590860" cy="1645831"/>
          </a:xfrm>
          <a:prstGeom prst="roundRect">
            <a:avLst>
              <a:gd name="adj" fmla="val 810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4916062" y="2727305"/>
            <a:ext cx="2389066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4916062" y="3306396"/>
            <a:ext cx="2389066" cy="30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regulada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570" y="4277946"/>
            <a:ext cx="8077260" cy="4589860"/>
          </a:xfrm>
          <a:prstGeom prst="roundRect">
            <a:avLst>
              <a:gd name="adj" fmla="val 2490"/>
            </a:avLst>
          </a:prstGeom>
          <a:solidFill>
            <a:srgbClr val="DCE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257211" y="6421964"/>
            <a:ext cx="1131064" cy="339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zone: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407265" y="6427679"/>
            <a:ext cx="3794921" cy="318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1331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pesquisa, draft e updates internos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963371" y="4277946"/>
            <a:ext cx="5334060" cy="4589860"/>
          </a:xfrm>
          <a:prstGeom prst="roundRect">
            <a:avLst>
              <a:gd name="adj" fmla="val 2490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230012" y="6271141"/>
            <a:ext cx="1316891" cy="641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zone: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565893" y="6276856"/>
            <a:ext cx="2815102" cy="619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externo/regulado sempre human-owned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0570" y="9234547"/>
            <a:ext cx="438090" cy="38040"/>
          </a:xfrm>
          <a:prstGeom prst="roundRect">
            <a:avLst>
              <a:gd name="adj" fmla="val 50001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600111" y="9096405"/>
            <a:ext cx="144351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rollout: </a:t>
            </a: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ganhar confiança em tarefas reversíveis antes de qualquer automação que toque sistemas externos.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044363" y="9626025"/>
            <a:ext cx="32926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3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9039344" y="-571500"/>
            <a:ext cx="10772597" cy="1143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20" y="914400"/>
            <a:ext cx="1834336" cy="628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20" y="3199061"/>
            <a:ext cx="13830300" cy="175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b="1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1"/>
          <p:cNvSpPr/>
          <p:nvPr/>
        </p:nvSpPr>
        <p:spPr>
          <a:xfrm>
            <a:off x="1047720" y="5008662"/>
            <a:ext cx="13830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&amp; Roadmap</a:t>
            </a:r>
            <a:endParaRPr lang="en-US" sz="6300" dirty="0"/>
          </a:p>
        </p:txBody>
      </p:sp>
      <p:sp>
        <p:nvSpPr>
          <p:cNvPr id="6" name="Text 2"/>
          <p:cNvSpPr/>
          <p:nvPr/>
        </p:nvSpPr>
        <p:spPr>
          <a:xfrm>
            <a:off x="1047720" y="6132552"/>
            <a:ext cx="11576624" cy="993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8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plano de 90 dias para chegar a um piloto funcional, mensurável e compatível com controles de IBD.</a:t>
            </a:r>
            <a:endParaRPr lang="en-US" sz="2850" dirty="0"/>
          </a:p>
        </p:txBody>
      </p:sp>
      <p:sp>
        <p:nvSpPr>
          <p:cNvPr id="7" name="Text 3"/>
          <p:cNvSpPr/>
          <p:nvPr/>
        </p:nvSpPr>
        <p:spPr>
          <a:xfrm>
            <a:off x="1047720" y="9206865"/>
            <a:ext cx="22470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242816" y="920686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80346" y="920686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BACKFILL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183068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anos de deals já povoam o corpus — o concorrente começa do zero.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384495"/>
            <a:ext cx="2574875" cy="5908507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224885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86785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4885" y="3247370"/>
            <a:ext cx="2316870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Inventário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24885" y="3658404"/>
            <a:ext cx="2182445" cy="59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6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setores-foco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736896" y="2384495"/>
            <a:ext cx="2574965" cy="5908507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971211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933111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1211" y="3247370"/>
            <a:ext cx="2316968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Ingestão → S3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3971211" y="3658404"/>
            <a:ext cx="2182535" cy="59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6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Wall/entitlement na entrada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483311" y="2384495"/>
            <a:ext cx="2574875" cy="5908507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717625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9525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17625" y="3247370"/>
            <a:ext cx="2316870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Extração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6717625" y="3658404"/>
            <a:ext cx="2182445" cy="59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6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Preservando o artefato de origem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229636" y="2384495"/>
            <a:ext cx="2574965" cy="5908507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9463951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425851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63951" y="3247370"/>
            <a:ext cx="2316968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Estruturação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463951" y="3658404"/>
            <a:ext cx="2182535" cy="59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6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+ vínculo ao deal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976050" y="2384495"/>
            <a:ext cx="2574965" cy="5908507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2210366" y="2656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172266" y="26568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210366" y="3247370"/>
            <a:ext cx="2316968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Curadoria sênior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2210366" y="3658404"/>
            <a:ext cx="2182535" cy="880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6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+ anexa outcome e precedente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4722465" y="2384495"/>
            <a:ext cx="2574875" cy="5908507"/>
          </a:xfrm>
          <a:prstGeom prst="roundRect">
            <a:avLst>
              <a:gd name="adj" fmla="val 5179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4951065" y="265113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FB2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4912965" y="265113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951065" y="3241655"/>
            <a:ext cx="2329443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Indexação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4951065" y="3652689"/>
            <a:ext cx="2193876" cy="59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6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+ embeddings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90570" y="8540621"/>
            <a:ext cx="16306860" cy="870109"/>
          </a:xfrm>
          <a:prstGeom prst="roundRect">
            <a:avLst>
              <a:gd name="adj" fmla="val 15326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352520" y="8788271"/>
            <a:ext cx="16072166" cy="412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curadoria é um ato de adoção, não um custo: </a:t>
            </a:r>
            <a:r>
              <a:rPr lang="en-US" sz="2100" dirty="0">
                <a:solidFill>
                  <a:srgbClr val="FFFFFF"/>
                </a:solidFill>
                <a:highlight>
                  <a:srgbClr val="183C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 sênior revisa e cada revisão melhora o corpus que leva o nome da casa.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7044720" y="9626025"/>
            <a:ext cx="32891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90 dias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937547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ondas: foundation, build, pilot e hardening.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422624"/>
            <a:ext cx="3919597" cy="5934403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62926" y="2731234"/>
            <a:ext cx="3728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92890" y="2714089"/>
            <a:ext cx="157290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62926" y="3255050"/>
            <a:ext cx="3374886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62926" y="3493115"/>
            <a:ext cx="3712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SSO/RBAC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2926" y="3942636"/>
            <a:ext cx="3712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rooms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2926" y="4392156"/>
            <a:ext cx="3712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Corpus: backfill + curadoria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19658" y="2422624"/>
            <a:ext cx="3919597" cy="5934403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92013" y="2731234"/>
            <a:ext cx="3728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821978" y="2714089"/>
            <a:ext cx="146180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Build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5392013" y="3255050"/>
            <a:ext cx="3374886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92013" y="3493115"/>
            <a:ext cx="3712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2013" y="3942636"/>
            <a:ext cx="3712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agentes MVP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2013" y="4392156"/>
            <a:ext cx="3712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PPT/Excel draft tools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48745" y="2422624"/>
            <a:ext cx="3919597" cy="5934403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521101" y="2731234"/>
            <a:ext cx="3728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951066" y="2714089"/>
            <a:ext cx="632073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1101" y="3255050"/>
            <a:ext cx="3374886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521101" y="3493115"/>
            <a:ext cx="3712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use cases reais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21101" y="3942636"/>
            <a:ext cx="3712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1101" y="4392156"/>
            <a:ext cx="3712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scorecards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377833" y="2422624"/>
            <a:ext cx="3919597" cy="5934403"/>
          </a:xfrm>
          <a:prstGeom prst="roundRect">
            <a:avLst>
              <a:gd name="adj" fmla="val 3888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3644474" y="2725519"/>
            <a:ext cx="3728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074439" y="2708374"/>
            <a:ext cx="220155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&amp; Scale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3644474" y="3249335"/>
            <a:ext cx="3386316" cy="28575"/>
          </a:xfrm>
          <a:prstGeom prst="roundRect">
            <a:avLst>
              <a:gd name="adj" fmla="val 50000"/>
            </a:avLst>
          </a:prstGeom>
          <a:solidFill>
            <a:srgbClr val="3F5A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3644474" y="3487400"/>
            <a:ext cx="372494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644474" y="3936921"/>
            <a:ext cx="372494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644474" y="4386441"/>
            <a:ext cx="372494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de expansão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90570" y="8604647"/>
            <a:ext cx="16306860" cy="806083"/>
          </a:xfrm>
          <a:prstGeom prst="roundRect">
            <a:avLst>
              <a:gd name="adj" fmla="val 16543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358235" y="8838962"/>
            <a:ext cx="16060736" cy="375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piloto: </a:t>
            </a:r>
            <a:r>
              <a:rPr lang="en-US" sz="1950" dirty="0">
                <a:solidFill>
                  <a:srgbClr val="3F5675"/>
                </a:solidFill>
                <a:highlight>
                  <a:srgbClr val="EAF2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Origination-to-Pitch para 1 setor e 1 time de bankers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7044363" y="9626025"/>
            <a:ext cx="32926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técnico inicial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937547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entregas por trilhas reduz risco e acelera adoção.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422624"/>
            <a:ext cx="5283161" cy="6431875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01055" y="2767400"/>
            <a:ext cx="3728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1020" y="2733110"/>
            <a:ext cx="1677612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01055" y="3253175"/>
            <a:ext cx="4662190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01055" y="3510350"/>
            <a:ext cx="5128409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IAM/KMS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01055" y="3991392"/>
            <a:ext cx="5128409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Tenant/deal isolation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301055" y="4472434"/>
            <a:ext cx="5128409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+ Knowledge Bases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301055" y="4953477"/>
            <a:ext cx="5128409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baseline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301055" y="5434519"/>
            <a:ext cx="5128409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policy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502331" y="2422624"/>
            <a:ext cx="5283250" cy="6431875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812816" y="2767400"/>
            <a:ext cx="3728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242781" y="2733110"/>
            <a:ext cx="1807958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812816" y="3253175"/>
            <a:ext cx="4662279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12816" y="3510350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Captain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812816" y="3991392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812816" y="4472434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Agent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6812816" y="4953477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 Agent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812816" y="5434519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QA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014181" y="2422624"/>
            <a:ext cx="5283250" cy="6431875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2324666" y="2767400"/>
            <a:ext cx="3728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754631" y="2733110"/>
            <a:ext cx="2087216" cy="38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Layer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2324666" y="3253175"/>
            <a:ext cx="4662279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324666" y="3510350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launcher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2324666" y="3991392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inbox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2324666" y="4472434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PPTX/PDF generation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2324666" y="4953477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checks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2324666" y="5434519"/>
            <a:ext cx="5128507" cy="347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dashboards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990570" y="9237405"/>
            <a:ext cx="438090" cy="38040"/>
          </a:xfrm>
          <a:prstGeom prst="roundRect">
            <a:avLst>
              <a:gd name="adj" fmla="val 50001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600111" y="9102120"/>
            <a:ext cx="873853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modular: </a:t>
            </a: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dados, construir workflow proprietário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995429" y="9626025"/>
            <a:ext cx="378202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DO PILOTO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KPIs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793748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valor, qualidade e controle desde o primeiro ciclo.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465636"/>
            <a:ext cx="3905250" cy="6378327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5835" y="4556745"/>
            <a:ext cx="3905250" cy="1405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- 40%/- 60%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1255776" y="5838824"/>
            <a:ext cx="3374898" cy="70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até primeiro draft de pitchbook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24450" y="2465636"/>
            <a:ext cx="3905250" cy="6378327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pPr algn="ctr"/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38775" y="4807148"/>
            <a:ext cx="3604260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38775" y="5838825"/>
            <a:ext cx="3374898" cy="70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materiais com fonte rastreável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58300" y="2465636"/>
            <a:ext cx="3905250" cy="6378327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572625" y="4807148"/>
            <a:ext cx="3604260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&gt;70%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9572625" y="5838825"/>
            <a:ext cx="3374898" cy="70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aceitação de primeiro draft pelo banker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392150" y="2465636"/>
            <a:ext cx="3905250" cy="6378327"/>
          </a:xfrm>
          <a:prstGeom prst="roundRect">
            <a:avLst>
              <a:gd name="adj" fmla="val 390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3539290" y="4807148"/>
            <a:ext cx="3625215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numCol="1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13696950" y="5838825"/>
            <a:ext cx="3394519" cy="70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9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externos sem aprovação humana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90600" y="9232106"/>
            <a:ext cx="438150" cy="3810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600200" y="9091613"/>
            <a:ext cx="1584075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semanal: </a:t>
            </a: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economizado, retrabalho, erros encontrados pelo Red Team, fontes ausentes, aprovações e incidentes.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044318" y="9625013"/>
            <a:ext cx="32928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937547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humano muda de executor para orquestrador, revisor e dono de decisão.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460665"/>
            <a:ext cx="3108960" cy="5832336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24885" y="2752130"/>
            <a:ext cx="290436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/ Partner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24885" y="3197811"/>
            <a:ext cx="38094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24885" y="3378726"/>
            <a:ext cx="2719540" cy="97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tese, relacionamento e decisão final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0001" y="2460665"/>
            <a:ext cx="3108960" cy="5832336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24316" y="2752130"/>
            <a:ext cx="290436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/ Associate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524316" y="3197811"/>
            <a:ext cx="38094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24316" y="3378726"/>
            <a:ext cx="2719540" cy="97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 workflow, revisa output e ajusta narrativa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89431" y="2460665"/>
            <a:ext cx="3109049" cy="5832336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23746" y="2752130"/>
            <a:ext cx="2904461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823746" y="3197811"/>
            <a:ext cx="38094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823746" y="3378726"/>
            <a:ext cx="2719632" cy="97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agentes, valida fontes e cura o Judgment Corpus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888950" y="2460665"/>
            <a:ext cx="3108960" cy="5832336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123265" y="2752130"/>
            <a:ext cx="290436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Compliance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123265" y="3197811"/>
            <a:ext cx="38094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1123265" y="3378726"/>
            <a:ext cx="2719540" cy="659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 gates, conflicts, MNPI e comunicações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88380" y="2460665"/>
            <a:ext cx="3108960" cy="5832336"/>
          </a:xfrm>
          <a:prstGeom prst="roundRect">
            <a:avLst>
              <a:gd name="adj" fmla="val 4289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422696" y="2752130"/>
            <a:ext cx="290436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/ Eng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4422696" y="3197811"/>
            <a:ext cx="38094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4422696" y="3378726"/>
            <a:ext cx="2719540" cy="97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Evolui agentes, integra dados e monitora qualidade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0570" y="8540621"/>
            <a:ext cx="16306860" cy="870109"/>
          </a:xfrm>
          <a:prstGeom prst="roundRect">
            <a:avLst>
              <a:gd name="adj" fmla="val 15326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352520" y="8788271"/>
            <a:ext cx="16072166" cy="412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do futuro = gerente de agentes; </a:t>
            </a:r>
            <a:r>
              <a:rPr lang="en-US" sz="2100" dirty="0">
                <a:solidFill>
                  <a:srgbClr val="FFFFFF"/>
                </a:solidFill>
                <a:highlight>
                  <a:srgbClr val="183C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banker sênior continua dono de julgamento, relacionamento e responsabilidade.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000251" y="9626025"/>
            <a:ext cx="37338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para kick-off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937547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anda mais rápido quando as escolhas iniciais são explícitas.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403515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82035" y="2656850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82035" y="3051185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do piloto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282035" y="3463737"/>
            <a:ext cx="4854390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Setor, time, workflow e cliente/caso simulado.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5991" y="2403515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87455" y="2656850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787455" y="3051185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permitidos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6787455" y="3463737"/>
            <a:ext cx="4854390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fontes entram na Knowledge Base inicial.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01412" y="2403515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292876" y="2656850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292876" y="3051185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humanos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2292876" y="3463737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aprova cada tipo de output.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570" y="5494526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82035" y="5747861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82035" y="6142197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282035" y="6554748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de tempo, qualidade e risco.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95991" y="5494526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787455" y="5747861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787455" y="6142197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6787455" y="6554748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Pitchbooks, modelos e language aprovado.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01412" y="5494526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2292876" y="5747861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292876" y="6142197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posture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2292876" y="6554748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agente nunca pode fazer sozinho.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0570" y="8604647"/>
            <a:ext cx="16306860" cy="806083"/>
          </a:xfrm>
          <a:prstGeom prst="roundRect">
            <a:avLst>
              <a:gd name="adj" fmla="val 16543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358235" y="8838962"/>
            <a:ext cx="16060736" cy="375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deliverable: </a:t>
            </a:r>
            <a:r>
              <a:rPr lang="en-US" sz="1950" dirty="0">
                <a:solidFill>
                  <a:srgbClr val="3F5675"/>
                </a:solidFill>
                <a:highlight>
                  <a:srgbClr val="EAF2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piloto funcional com 5 agentes e 1 workflow completo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998465" y="9626025"/>
            <a:ext cx="375166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83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680282" y="-761970"/>
            <a:ext cx="11131660" cy="1181094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20" y="914400"/>
            <a:ext cx="1834336" cy="628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20" y="2789813"/>
            <a:ext cx="155066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THESIS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047720" y="3389888"/>
            <a:ext cx="15506635" cy="771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vencedor não será o melhor chat.</a:t>
            </a:r>
            <a:endParaRPr lang="en-US" sz="5550" dirty="0"/>
          </a:p>
        </p:txBody>
      </p:sp>
      <p:sp>
        <p:nvSpPr>
          <p:cNvPr id="6" name="Text 2"/>
          <p:cNvSpPr/>
          <p:nvPr/>
        </p:nvSpPr>
        <p:spPr>
          <a:xfrm>
            <a:off x="1047720" y="4294287"/>
            <a:ext cx="14519849" cy="1503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Será o melhor sistema operacional de deal execution.</a:t>
            </a:r>
            <a:endParaRPr lang="en-US" sz="5550" dirty="0"/>
          </a:p>
        </p:txBody>
      </p:sp>
      <p:sp>
        <p:nvSpPr>
          <p:cNvPr id="7" name="Shape 3"/>
          <p:cNvSpPr/>
          <p:nvPr/>
        </p:nvSpPr>
        <p:spPr>
          <a:xfrm>
            <a:off x="1047720" y="6198275"/>
            <a:ext cx="12763471" cy="1298912"/>
          </a:xfrm>
          <a:prstGeom prst="roundRect">
            <a:avLst>
              <a:gd name="adj" fmla="val 10266"/>
            </a:avLst>
          </a:prstGeom>
          <a:solidFill>
            <a:srgbClr val="FFFFFF">
              <a:alpha val="8000"/>
            </a:srgbClr>
          </a:solidFill>
          <a:ln w="5715">
            <a:solidFill>
              <a:srgbClr val="7FB2E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1415385" y="6451640"/>
            <a:ext cx="12411045" cy="830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proprietários + workflows de IBD + personas reguladas + governança nativa + AWS/Bedrock.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047720" y="920686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414088" y="920686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51617" y="9206865"/>
            <a:ext cx="22470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2879</Words>
  <Application>Microsoft Macintosh PowerPoint</Application>
  <PresentationFormat>Personalizar</PresentationFormat>
  <Paragraphs>566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Totó Busnello</cp:lastModifiedBy>
  <cp:revision>3</cp:revision>
  <dcterms:created xsi:type="dcterms:W3CDTF">2026-06-27T01:26:57Z</dcterms:created>
  <dcterms:modified xsi:type="dcterms:W3CDTF">2026-06-27T01:37:35Z</dcterms:modified>
</cp:coreProperties>
</file>