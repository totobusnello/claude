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632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Posicionamento: um sistema operacional de deals, AI-native, para investment banking. Galapagos AI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Tese central: o valor está na orquestração de especialistas, não em um chat genérico. Mesa digital com mandato, controle e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agora: workflows intensivos em dados encontram agentes especializados, dados proprietários, infra AWS e governança. A oportunidade é transformar a pirâmide de execução em um sistema operacional de deal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Evolução: de copilot para Deal OS. Cinco estágios, de produtividade individual a memória institucional. Ponto de inflexão: o banker aciona workflows de ponta a ponta.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do produto: Agentic Deal OS com seis módulos — Research, Valuation, Pitch, Diligence, Compliance e Memory. Um sistema operacional para execução de deals, não uma ferramenta solta de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seção 01: Arquitetura AWS / Bedrock. Camadas técnicas para rodar agentes especialistas com dados privados, ferramentas internas e governança nativa.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de referência: supervisor agent, agentes especialistas, data fabric, tool layer e governança como control plane transversal.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multiagente: o Deal Captain supervisiona cinco agentes especialistas e aciona gates humanos. Supervisor planeja, colaborador executa, verifier checa, humano aprova.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é uma unidade de controle: mandato, dados permitidos, ferramentas, autonomia, output e aprovação. Um charter operacional, não tom de voz.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MVP: digital deal team. Começar por origination-to-pitch — alto valor, baixo risco regulatório, outputs revisáveis. Seis agentes sob o Deal Captain; humano aprova antes de qualquer uso externo.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1 Origination-to-Pitch em raias: human banker, Deal Captain, specialist agents e systems. Do brief do MD ao pitchbook rastreável com comps e issues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2 Sell-side execution: mandato, materiais, data room, buyers, Q&amp;A e bids. O agente organiza; controles críticos por bidder, logs de VDR e revisão legal/compliance.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fabric e entitlements: agentes só enxergam o que estão autorizados a enxergar. Dados internos e externos passam pelo Entitlement Gateway com ABAC/RBAC, deal room, wall status 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Governança nativa, não add-on: MNPI e walls, conflitos, evidência, human gates e recordkeeping. O agente produz, verifica e escala; decisão crítica e comunicação externa seguem com humanos.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autonomia 0 a 5: começar em 0-2, expandir para 3 com controles, bloquear 4-5 por padrão. Safe zone interna; restricted zone externa sempre human-owned. Ganhar confiança em tarefas reversíveis primeiro.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seção 02: MVP e Roadmap. Um plano de 90 dias para chegar a um piloto funcional, mensurável e compatível com controles de IBD.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de 90 dias em quatro ondas: foundation, MVP build, pilot e harden &amp; scale. Primeiro piloto: Origination-to-Pitch para 1 setor e 1 time de bankers.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Backlog técnico em três trilhas: Foundation, Agent Layer e Product Layer. Arquitetura modular: comprar dados, construir workflow proprietário.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KPIs: -40%/-60% no tempo até primeiro draft, 100% dos números materiais com fonte rastreável, &gt;70% de aceitação do primeiro draft, 0 outputs externos sem aprovação humana. Medição semanal.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Operating model: o time humano vira orquestrador, revisor e dono de decisão. MD/Partner, VP/Associate, Analyst, Legal/Compliance e AI Product/Eng. Analyst do futuro = gerente de agentes; banker sênior continua dono de julgamento.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 para kick-off: escopo do piloto, dados permitidos, gates humanos, métricas, templates e risk posture. Próximo deliverable: piloto funcional com 5 agentes e 1 workflow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thesis: o produto vencedor não será o melhor chat — será o melhor sistema operacional de deal execution. Dados proprietários + workflows de IBD + personas reguladas + governança nativa + AWS/Bedrock.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837935" y="-476250"/>
            <a:ext cx="10593065" cy="11239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14400"/>
            <a:ext cx="2167905" cy="742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50" y="3494633"/>
            <a:ext cx="12573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047750" y="4285379"/>
            <a:ext cx="12573000" cy="129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350" b="1" kern="0" spc="-10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IBD Platform</a:t>
            </a:r>
            <a:endParaRPr lang="en-US" sz="10350" dirty="0"/>
          </a:p>
        </p:txBody>
      </p:sp>
      <p:sp>
        <p:nvSpPr>
          <p:cNvPr id="6" name="Text 2"/>
          <p:cNvSpPr/>
          <p:nvPr/>
        </p:nvSpPr>
        <p:spPr>
          <a:xfrm>
            <a:off x="1047750" y="5723260"/>
            <a:ext cx="10595610" cy="1107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4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Deal Operating System for Investment Banking</a:t>
            </a:r>
            <a:endParaRPr lang="en-US" sz="3450" dirty="0"/>
          </a:p>
        </p:txBody>
      </p:sp>
      <p:sp>
        <p:nvSpPr>
          <p:cNvPr id="7" name="Text 3"/>
          <p:cNvSpPr/>
          <p:nvPr/>
        </p:nvSpPr>
        <p:spPr>
          <a:xfrm>
            <a:off x="1047750" y="9205913"/>
            <a:ext cx="22470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242965" y="92059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80569" y="92059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TESE CENTRAL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52538"/>
            <a:ext cx="15304770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está na orquestração de especialistas, não em um chat genérico.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90600" y="2660303"/>
            <a:ext cx="14716125" cy="822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chatbot. É uma mesa digital de especialistas. Cada agente nasce com mandato, dados permitidos, ferramentas autorizadas, gates humanos e trilha de auditoria.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3863876"/>
            <a:ext cx="5245075" cy="2488406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62075" y="4254401"/>
            <a:ext cx="495233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62075" y="4735413"/>
            <a:ext cx="495233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Especialização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62075" y="5278338"/>
            <a:ext cx="4637189" cy="721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com escopo operacional claro.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21425" y="3863876"/>
            <a:ext cx="5245150" cy="2488406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92900" y="4254401"/>
            <a:ext cx="49524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92900" y="4735413"/>
            <a:ext cx="49524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2900" y="5278338"/>
            <a:ext cx="4637266" cy="721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Permissões e revisão humana por design.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52325" y="3863876"/>
            <a:ext cx="5245075" cy="2488406"/>
          </a:xfrm>
          <a:prstGeom prst="roundRect">
            <a:avLst>
              <a:gd name="adj" fmla="val 6124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423800" y="4254401"/>
            <a:ext cx="495233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23800" y="4735413"/>
            <a:ext cx="495233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23800" y="5278338"/>
            <a:ext cx="4637189" cy="721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Números, fontes e cálculos rastreáveis.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90600" y="6821388"/>
            <a:ext cx="438150" cy="3810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600200" y="6676132"/>
            <a:ext cx="568797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= contrato operacional, lastreada no Judgment Corpus da casa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90600" y="961548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78287" y="960596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87316" y="960596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95428" y="9605963"/>
            <a:ext cx="37817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52538"/>
            <a:ext cx="17937480" cy="60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3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agora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90600" y="1987451"/>
            <a:ext cx="15304770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IBD tem workflows intensivos em dados, documentos, modelos e revisão - exatamente o território de agentes especializados.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90600" y="2962721"/>
            <a:ext cx="3890962" cy="51573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04925" y="3315146"/>
            <a:ext cx="358854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04925" y="3758059"/>
            <a:ext cx="358854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Produtividade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304925" y="4216152"/>
            <a:ext cx="3360182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Pitchbooks, pesquisas, comps, diligence e Q&amp;A têm alto volume e muita repetição.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9213" y="2962721"/>
            <a:ext cx="3890962" cy="51573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43538" y="3315146"/>
            <a:ext cx="358854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43538" y="3758059"/>
            <a:ext cx="358854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proprietários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5443538" y="4216152"/>
            <a:ext cx="336018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diferencial passa a ser memória institucional, templates, precedentes e deal history.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67825" y="2962721"/>
            <a:ext cx="3890962" cy="51573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82150" y="3315146"/>
            <a:ext cx="358854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82150" y="3758059"/>
            <a:ext cx="358854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AWS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9582150" y="4216152"/>
            <a:ext cx="336018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permite combinar agentes, Knowledge Bases, guardrails e ferramentas internas.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406438" y="2962721"/>
            <a:ext cx="3890962" cy="51573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3720763" y="3315146"/>
            <a:ext cx="358854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720763" y="3758059"/>
            <a:ext cx="358854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13720763" y="4216152"/>
            <a:ext cx="3360182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desenho precisa nascer com MNPI, conflitos, entitlements e recordkeeping.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0600" y="8405813"/>
            <a:ext cx="16306800" cy="966788"/>
          </a:xfrm>
          <a:prstGeom prst="roundRect">
            <a:avLst>
              <a:gd name="adj" fmla="val 15764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371600" y="8691563"/>
            <a:ext cx="16034004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oportunidade: </a:t>
            </a:r>
            <a:r>
              <a:rPr lang="en-US" sz="2250" dirty="0">
                <a:solidFill>
                  <a:srgbClr val="FFFFFF"/>
                </a:solidFill>
                <a:highlight>
                  <a:srgbClr val="183C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transformar a pirâmide de execução em um sistema operacional de deal teams.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90600" y="961548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78287" y="960596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87316" y="960596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93642" y="9605963"/>
            <a:ext cx="37995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52538"/>
            <a:ext cx="17937480" cy="60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3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copiloto para Deal OS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90600" y="1968401"/>
            <a:ext cx="163449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evolução da IA em Investment Banking deve sair de produtividade individual para workflow institucional.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90600" y="2627486"/>
            <a:ext cx="3108945" cy="6100316"/>
          </a:xfrm>
          <a:prstGeom prst="roundRect">
            <a:avLst>
              <a:gd name="adj" fmla="val 4902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57300" y="2951336"/>
            <a:ext cx="2833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57300" y="3522836"/>
            <a:ext cx="283310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57300" y="3964781"/>
            <a:ext cx="26528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isoladas e drafts pontuais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0045" y="2627486"/>
            <a:ext cx="3109020" cy="6100316"/>
          </a:xfrm>
          <a:prstGeom prst="roundRect">
            <a:avLst>
              <a:gd name="adj" fmla="val 4902"/>
            </a:avLst>
          </a:prstGeom>
          <a:solidFill>
            <a:srgbClr val="D4E4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56745" y="2951336"/>
            <a:ext cx="283318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56745" y="3522836"/>
            <a:ext cx="2833181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56745" y="3964781"/>
            <a:ext cx="265288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com função e ferramentas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89565" y="2627486"/>
            <a:ext cx="3108945" cy="6100316"/>
          </a:xfrm>
          <a:prstGeom prst="roundRect">
            <a:avLst>
              <a:gd name="adj" fmla="val 4902"/>
            </a:avLst>
          </a:prstGeom>
          <a:solidFill>
            <a:srgbClr val="9CC3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56265" y="2951336"/>
            <a:ext cx="2833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856265" y="3522836"/>
            <a:ext cx="2652811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1331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856265" y="4273376"/>
            <a:ext cx="26528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274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coordena agentes por etapa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889010" y="2627486"/>
            <a:ext cx="3108945" cy="6100316"/>
          </a:xfrm>
          <a:prstGeom prst="roundRect">
            <a:avLst>
              <a:gd name="adj" fmla="val 4902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155710" y="2951336"/>
            <a:ext cx="2833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FE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1155710" y="3522836"/>
            <a:ext cx="283310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Deal OS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155710" y="3964781"/>
            <a:ext cx="26528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DC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room, dados, gates e auditoria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88455" y="2627486"/>
            <a:ext cx="3108945" cy="6100316"/>
          </a:xfrm>
          <a:prstGeom prst="roundRect">
            <a:avLst>
              <a:gd name="adj" fmla="val 490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455155" y="2951336"/>
            <a:ext cx="28331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4455155" y="3522836"/>
            <a:ext cx="283310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4455155" y="3964781"/>
            <a:ext cx="265281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Corpus: 14 anos de house view codificada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0600" y="9173989"/>
            <a:ext cx="438150" cy="3810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600200" y="9013552"/>
            <a:ext cx="1295632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inflexão: </a:t>
            </a: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banker não pede apenas respostas; ele aciona workflows de ponta a ponta.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990600" y="961548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78287" y="960596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87316" y="960596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87168" y="9605963"/>
            <a:ext cx="3864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49247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DO PRODUTO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52538"/>
            <a:ext cx="449247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Deal OS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4303425" y="1252538"/>
            <a:ext cx="2993975" cy="55245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589175" y="1385888"/>
            <a:ext cx="25122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módulos · 1 sistema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90600" y="2128838"/>
            <a:ext cx="5270450" cy="3169444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23975" y="2462213"/>
            <a:ext cx="5064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23975" y="2967038"/>
            <a:ext cx="506407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Market, setor e companhia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08700" y="2128838"/>
            <a:ext cx="5270525" cy="3169444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42075" y="2462213"/>
            <a:ext cx="506415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42075" y="2967038"/>
            <a:ext cx="506415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Comps, DCF, sensitivities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26875" y="2128838"/>
            <a:ext cx="5270450" cy="3169444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360250" y="2462213"/>
            <a:ext cx="5064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360250" y="2967038"/>
            <a:ext cx="506407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Narrativa, deck e credentials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90600" y="5545931"/>
            <a:ext cx="5270450" cy="3169444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23975" y="5879306"/>
            <a:ext cx="5064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323975" y="6384131"/>
            <a:ext cx="506407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VDR, red flags e Q&amp;A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508700" y="5545931"/>
            <a:ext cx="5270525" cy="3169444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842075" y="5879306"/>
            <a:ext cx="506415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842075" y="6384131"/>
            <a:ext cx="506415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Conflitos, MNPI e logs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026875" y="5545931"/>
            <a:ext cx="5270450" cy="3169444"/>
          </a:xfrm>
          <a:prstGeom prst="roundRect">
            <a:avLst>
              <a:gd name="adj" fmla="val 4808"/>
            </a:avLst>
          </a:prstGeom>
          <a:solidFill>
            <a:srgbClr val="EAF2FB"/>
          </a:solidFill>
          <a:ln w="952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2360250" y="5879306"/>
            <a:ext cx="5064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Corpus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360250" y="6384131"/>
            <a:ext cx="506407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Julgamento codificado da casa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90600" y="9167813"/>
            <a:ext cx="438150" cy="3810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600200" y="9001125"/>
            <a:ext cx="118461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operacional para execução de deals, não uma ferramenta solta de texto.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90600" y="961548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078287" y="960596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87316" y="960596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99223" y="9605963"/>
            <a:ext cx="37437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3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9039374" y="-571500"/>
            <a:ext cx="10772626" cy="1143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14400"/>
            <a:ext cx="1834381" cy="628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50" y="3198912"/>
            <a:ext cx="138303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b="1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1"/>
          <p:cNvSpPr/>
          <p:nvPr/>
        </p:nvSpPr>
        <p:spPr>
          <a:xfrm>
            <a:off x="1047750" y="5008662"/>
            <a:ext cx="13830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AWS / Bedrock</a:t>
            </a:r>
            <a:endParaRPr lang="en-US" sz="6300" dirty="0"/>
          </a:p>
        </p:txBody>
      </p:sp>
      <p:sp>
        <p:nvSpPr>
          <p:cNvPr id="6" name="Text 2"/>
          <p:cNvSpPr/>
          <p:nvPr/>
        </p:nvSpPr>
        <p:spPr>
          <a:xfrm>
            <a:off x="1047750" y="6132612"/>
            <a:ext cx="11576685" cy="993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8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Camadas técnicas para rodar agentes especialistas com dados privados, ferramentas internas e governança nativa.</a:t>
            </a:r>
            <a:endParaRPr lang="en-US" sz="2850" dirty="0"/>
          </a:p>
        </p:txBody>
      </p:sp>
      <p:sp>
        <p:nvSpPr>
          <p:cNvPr id="7" name="Text 3"/>
          <p:cNvSpPr/>
          <p:nvPr/>
        </p:nvSpPr>
        <p:spPr>
          <a:xfrm>
            <a:off x="1047750" y="9205913"/>
            <a:ext cx="22470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242965" y="92059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80569" y="92059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de referência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785938"/>
            <a:ext cx="1793748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 + agentes especialistas + data fabric + tool layer + governança.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370386"/>
            <a:ext cx="12839700" cy="1267123"/>
          </a:xfrm>
          <a:prstGeom prst="roundRect">
            <a:avLst>
              <a:gd name="adj" fmla="val 10524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66825" y="2868960"/>
            <a:ext cx="272415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3990975" y="2777728"/>
            <a:ext cx="2350071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62425" y="2863453"/>
            <a:ext cx="208337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Banker workspace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55346" y="2777728"/>
            <a:ext cx="1423095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6796" y="2863453"/>
            <a:ext cx="115639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room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92740" y="2777728"/>
            <a:ext cx="2341364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164190" y="2863453"/>
            <a:ext cx="20746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launcher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48404" y="2777728"/>
            <a:ext cx="1928589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619854" y="2863453"/>
            <a:ext cx="166188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inbox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0600" y="3789908"/>
            <a:ext cx="12839700" cy="1248147"/>
          </a:xfrm>
          <a:prstGeom prst="roundRect">
            <a:avLst>
              <a:gd name="adj" fmla="val 10684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57300" y="4278957"/>
            <a:ext cx="272415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Layer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3981450" y="4260800"/>
            <a:ext cx="8368412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Agent como Deal Captain: planeja, roteia e consolida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90600" y="5190455"/>
            <a:ext cx="12839700" cy="1267123"/>
          </a:xfrm>
          <a:prstGeom prst="roundRect">
            <a:avLst>
              <a:gd name="adj" fmla="val 10524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266825" y="5689029"/>
            <a:ext cx="272415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3990975" y="5597798"/>
            <a:ext cx="1802011" cy="452438"/>
          </a:xfrm>
          <a:prstGeom prst="roundRect">
            <a:avLst>
              <a:gd name="adj" fmla="val 16842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162425" y="5683523"/>
            <a:ext cx="153531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07286" y="5597798"/>
            <a:ext cx="1358429" cy="452438"/>
          </a:xfrm>
          <a:prstGeom prst="roundRect">
            <a:avLst>
              <a:gd name="adj" fmla="val 16842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078736" y="5683523"/>
            <a:ext cx="10917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80015" y="5597798"/>
            <a:ext cx="1437605" cy="452438"/>
          </a:xfrm>
          <a:prstGeom prst="roundRect">
            <a:avLst>
              <a:gd name="adj" fmla="val 16842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551465" y="5683523"/>
            <a:ext cx="117090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931920" y="5597798"/>
            <a:ext cx="818108" cy="452438"/>
          </a:xfrm>
          <a:prstGeom prst="roundRect">
            <a:avLst>
              <a:gd name="adj" fmla="val 16842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103370" y="5683523"/>
            <a:ext cx="55140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64328" y="5597798"/>
            <a:ext cx="1425104" cy="452438"/>
          </a:xfrm>
          <a:prstGeom prst="roundRect">
            <a:avLst>
              <a:gd name="adj" fmla="val 16842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0035778" y="5683523"/>
            <a:ext cx="1158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03732" y="5597798"/>
            <a:ext cx="1641649" cy="452438"/>
          </a:xfrm>
          <a:prstGeom prst="roundRect">
            <a:avLst>
              <a:gd name="adj" fmla="val 16842"/>
            </a:avLst>
          </a:prstGeom>
          <a:solidFill>
            <a:srgbClr val="E6EE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1575182" y="5683523"/>
            <a:ext cx="137494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90600" y="6609978"/>
            <a:ext cx="12839700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266825" y="7030566"/>
            <a:ext cx="255270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&amp; Data Layer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3990975" y="6790953"/>
            <a:ext cx="3232993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162425" y="6876678"/>
            <a:ext cx="298708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Knowledge Bases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38268" y="6790953"/>
            <a:ext cx="630808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509718" y="6876678"/>
            <a:ext cx="36410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83376" y="6790953"/>
            <a:ext cx="3060650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8254826" y="6876678"/>
            <a:ext cx="280957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OpenSearch/vector store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258327" y="6790953"/>
            <a:ext cx="863501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11429777" y="6876678"/>
            <a:ext cx="59680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236128" y="6790953"/>
            <a:ext cx="812750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2407578" y="6876678"/>
            <a:ext cx="5460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990975" y="7357690"/>
            <a:ext cx="1626468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162425" y="7443415"/>
            <a:ext cx="135976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90600" y="8143503"/>
            <a:ext cx="12839700" cy="1267197"/>
          </a:xfrm>
          <a:prstGeom prst="roundRect">
            <a:avLst>
              <a:gd name="adj" fmla="val 10523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266825" y="8507090"/>
            <a:ext cx="255270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Execution Layer</a:t>
            </a:r>
            <a:endParaRPr lang="en-US" sz="2025" dirty="0"/>
          </a:p>
        </p:txBody>
      </p:sp>
      <p:sp>
        <p:nvSpPr>
          <p:cNvPr id="48" name="Shape 46"/>
          <p:cNvSpPr/>
          <p:nvPr/>
        </p:nvSpPr>
        <p:spPr>
          <a:xfrm>
            <a:off x="3990975" y="8550846"/>
            <a:ext cx="1209080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162425" y="8636571"/>
            <a:ext cx="94238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314355" y="8550846"/>
            <a:ext cx="1950690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5485805" y="8636571"/>
            <a:ext cx="16839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379345" y="8550846"/>
            <a:ext cx="2220069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7550795" y="8636571"/>
            <a:ext cx="195336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generation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713714" y="8550846"/>
            <a:ext cx="828675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9885164" y="8636571"/>
            <a:ext cx="56197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0656689" y="8550846"/>
            <a:ext cx="2572866" cy="452438"/>
          </a:xfrm>
          <a:prstGeom prst="roundRect">
            <a:avLst>
              <a:gd name="adj" fmla="val 1684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10828139" y="8636571"/>
            <a:ext cx="23071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extraction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4058900" y="2370386"/>
            <a:ext cx="3238500" cy="7040314"/>
          </a:xfrm>
          <a:prstGeom prst="roundRect">
            <a:avLst>
              <a:gd name="adj" fmla="val 4118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14344650" y="2656136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Layer</a:t>
            </a:r>
            <a:endParaRPr lang="en-US" sz="2025" dirty="0"/>
          </a:p>
        </p:txBody>
      </p:sp>
      <p:sp>
        <p:nvSpPr>
          <p:cNvPr id="60" name="Text 58"/>
          <p:cNvSpPr/>
          <p:nvPr/>
        </p:nvSpPr>
        <p:spPr>
          <a:xfrm>
            <a:off x="14344650" y="3008561"/>
            <a:ext cx="2933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4344650" y="3499098"/>
            <a:ext cx="2933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4344650" y="3903911"/>
            <a:ext cx="2933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4344650" y="4308723"/>
            <a:ext cx="2933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4344650" y="4713536"/>
            <a:ext cx="2933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4344650" y="5118348"/>
            <a:ext cx="2933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4344650" y="5523161"/>
            <a:ext cx="2933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approvals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4344650" y="5927973"/>
            <a:ext cx="2933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7009938" y="9625013"/>
            <a:ext cx="36366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MULTIAGENTE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95388"/>
            <a:ext cx="179374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multiagente no Bedrock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90600" y="1843088"/>
            <a:ext cx="17937480" cy="387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02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agente supervisor coordena colaboradores especialistas e aciona gates humanos.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6667500" y="2478584"/>
            <a:ext cx="4953000" cy="1171575"/>
          </a:xfrm>
          <a:prstGeom prst="roundRect">
            <a:avLst>
              <a:gd name="adj" fmla="val 1138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922770" y="2688134"/>
            <a:ext cx="444246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324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22770" y="3026271"/>
            <a:ext cx="444246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Captain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34475" y="3859709"/>
            <a:ext cx="19050" cy="171450"/>
          </a:xfrm>
          <a:prstGeom prst="rect">
            <a:avLst/>
          </a:prstGeom>
          <a:solidFill>
            <a:srgbClr val="CFD9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90600" y="4240709"/>
            <a:ext cx="3108945" cy="802332"/>
          </a:xfrm>
          <a:prstGeom prst="roundRect">
            <a:avLst>
              <a:gd name="adj" fmla="val 16620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43991" y="4497884"/>
            <a:ext cx="2802163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4290045" y="4240709"/>
            <a:ext cx="3109020" cy="802332"/>
          </a:xfrm>
          <a:prstGeom prst="roundRect">
            <a:avLst>
              <a:gd name="adj" fmla="val 16620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443435" y="4497884"/>
            <a:ext cx="280224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Agent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7589565" y="4240709"/>
            <a:ext cx="3108945" cy="802332"/>
          </a:xfrm>
          <a:prstGeom prst="roundRect">
            <a:avLst>
              <a:gd name="adj" fmla="val 16620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42955" y="4497884"/>
            <a:ext cx="2802163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 Architect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889010" y="4240709"/>
            <a:ext cx="3108945" cy="802332"/>
          </a:xfrm>
          <a:prstGeom prst="roundRect">
            <a:avLst>
              <a:gd name="adj" fmla="val 16620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042401" y="4497884"/>
            <a:ext cx="2802163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 Extractor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4188455" y="4240709"/>
            <a:ext cx="3108945" cy="802332"/>
          </a:xfrm>
          <a:prstGeom prst="roundRect">
            <a:avLst>
              <a:gd name="adj" fmla="val 16620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4341846" y="4497884"/>
            <a:ext cx="2802163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QA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90600" y="5309741"/>
            <a:ext cx="8029575" cy="4100959"/>
          </a:xfrm>
          <a:prstGeom prst="roundRect">
            <a:avLst>
              <a:gd name="adj" fmla="val 3716"/>
            </a:avLst>
          </a:prstGeom>
          <a:solidFill>
            <a:srgbClr val="EAF2FB"/>
          </a:solidFill>
          <a:ln w="952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343025" y="5643116"/>
            <a:ext cx="805719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43025" y="6128891"/>
            <a:ext cx="754446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VP/MD, Legal, Compliance e cliente aprovam outputs críticos.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267825" y="5309741"/>
            <a:ext cx="8029575" cy="4100959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620250" y="5643116"/>
            <a:ext cx="805719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operacional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620250" y="6128891"/>
            <a:ext cx="754446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planeja, colaborador executa, verifier checa, humano aprova.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93419" y="9625013"/>
            <a:ext cx="38018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como contrato operacional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608963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 é uma unidade de controle: define escopo, dados, ferramentas, autonomia e aprovação. Não é apenas "tom de voz". Em IBD, persona precisa funcionar como um charter operacional que limita comportamento, acesso e responsabilidade.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90600" y="2671763"/>
            <a:ext cx="5791126" cy="576263"/>
          </a:xfrm>
          <a:prstGeom prst="roundRect">
            <a:avLst>
              <a:gd name="adj" fmla="val 50000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95400" y="2809875"/>
            <a:ext cx="1114127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466677" y="2805113"/>
            <a:ext cx="23194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755776" y="2809875"/>
            <a:ext cx="1306488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permissão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19414" y="2805113"/>
            <a:ext cx="23194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08512" y="2809875"/>
            <a:ext cx="1203052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668714" y="2805113"/>
            <a:ext cx="23194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957813" y="2809875"/>
            <a:ext cx="595313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90600" y="3476625"/>
            <a:ext cx="5295900" cy="2862263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85875" y="3733800"/>
            <a:ext cx="517588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285875" y="4148137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o agente existe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96050" y="3476625"/>
            <a:ext cx="5295900" cy="2862263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91325" y="3733800"/>
            <a:ext cx="517588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permitidos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6791325" y="4148137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Cliente, deal room, fonte e wall status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01500" y="3476625"/>
            <a:ext cx="5295900" cy="2862263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296775" y="3733800"/>
            <a:ext cx="517588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2296775" y="4148137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Excel, PPT, CRM, VDR, APIs, Lambda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90600" y="6548438"/>
            <a:ext cx="5295900" cy="2862263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285875" y="6805613"/>
            <a:ext cx="517588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1285875" y="7219950"/>
            <a:ext cx="4846511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Pesquisa, draft, update interno ou workflow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6050" y="6548438"/>
            <a:ext cx="5295900" cy="2862263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791325" y="6805613"/>
            <a:ext cx="517588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6791325" y="7219950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Formato, fonte, confidence e limitações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001500" y="6548438"/>
            <a:ext cx="5295900" cy="2862263"/>
          </a:xfrm>
          <a:prstGeom prst="roundRect">
            <a:avLst>
              <a:gd name="adj" fmla="val 4659"/>
            </a:avLst>
          </a:prstGeom>
          <a:solidFill>
            <a:srgbClr val="EAF2FB"/>
          </a:solidFill>
          <a:ln w="952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2296775" y="6805613"/>
            <a:ext cx="517588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12296775" y="7219950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Associate, VP, MD, Legal ou Compliance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993121" y="9625013"/>
            <a:ext cx="38047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13242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132429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digital deal team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1324295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por origination-to-pitch: alto valor, baixo risco regulatório e outputs revisáveis.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4397856" y="1151186"/>
            <a:ext cx="2899544" cy="990600"/>
          </a:xfrm>
          <a:prstGeom prst="roundRect">
            <a:avLst>
              <a:gd name="adj" fmla="val 11538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4567204" y="1322636"/>
            <a:ext cx="256084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288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ORQUESTRADOR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67204" y="1641723"/>
            <a:ext cx="256084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Captain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90600" y="2389436"/>
            <a:ext cx="5295900" cy="3122488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85875" y="2646611"/>
            <a:ext cx="51758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85875" y="3070473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Triggers, setor e oportunidades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6050" y="2389436"/>
            <a:ext cx="5295900" cy="3122488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791325" y="2646611"/>
            <a:ext cx="51758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Universe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791325" y="3070473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list, short list e rationale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01500" y="2389436"/>
            <a:ext cx="5295900" cy="3122488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2296775" y="2646611"/>
            <a:ext cx="51758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&amp; Comps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296775" y="3070473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Multiples, precedents e ranges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5721474"/>
            <a:ext cx="5295900" cy="3122488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85875" y="5978649"/>
            <a:ext cx="51758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 Architect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85875" y="6402512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Narrativa e deck preliminar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96050" y="5721474"/>
            <a:ext cx="5295900" cy="3122488"/>
          </a:xfrm>
          <a:prstGeom prst="roundRect">
            <a:avLst>
              <a:gd name="adj" fmla="val 4271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791325" y="5978649"/>
            <a:ext cx="51758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QA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791325" y="6402512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Fonte, cálculo e consistência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01500" y="5721474"/>
            <a:ext cx="5295900" cy="3122488"/>
          </a:xfrm>
          <a:prstGeom prst="roundRect">
            <a:avLst>
              <a:gd name="adj" fmla="val 4271"/>
            </a:avLst>
          </a:prstGeom>
          <a:solidFill>
            <a:srgbClr val="EAF2FB"/>
          </a:solidFill>
          <a:ln w="952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2296775" y="5978649"/>
            <a:ext cx="51758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Pre-check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296775" y="6402512"/>
            <a:ext cx="517588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MNPI, conflitos e linguagem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90600" y="9232106"/>
            <a:ext cx="438150" cy="3810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600200" y="9091613"/>
            <a:ext cx="63009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 aprova antes de qualquer uso externo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7041862" y="9625013"/>
            <a:ext cx="3317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1: Origination-to-Pitch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919288"/>
            <a:ext cx="2171700" cy="151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banker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600" y="3530203"/>
            <a:ext cx="2171700" cy="151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Captain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990600" y="5141119"/>
            <a:ext cx="2171700" cy="151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90600" y="6752034"/>
            <a:ext cx="2171700" cy="151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219450" y="6752034"/>
            <a:ext cx="14077876" cy="1477566"/>
          </a:xfrm>
          <a:prstGeom prst="roundRect">
            <a:avLst>
              <a:gd name="adj" fmla="val 7736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008282" y="6752034"/>
            <a:ext cx="14500212" cy="1515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· VDR · market data · deal room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19450" y="1919288"/>
            <a:ext cx="1896814" cy="1477566"/>
          </a:xfrm>
          <a:prstGeom prst="roundRect">
            <a:avLst>
              <a:gd name="adj" fmla="val 7736"/>
            </a:avLst>
          </a:prstGeom>
          <a:solidFill>
            <a:srgbClr val="EAF2FB"/>
          </a:solidFill>
          <a:ln w="952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381375" y="2538040"/>
            <a:ext cx="1730261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do MD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49614" y="3530203"/>
            <a:ext cx="1896814" cy="1477566"/>
          </a:xfrm>
          <a:prstGeom prst="roundRect">
            <a:avLst>
              <a:gd name="adj" fmla="val 7736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02014" y="4148956"/>
            <a:ext cx="1751216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79779" y="3530203"/>
            <a:ext cx="1896814" cy="1477566"/>
          </a:xfrm>
          <a:prstGeom prst="roundRect">
            <a:avLst>
              <a:gd name="adj" fmla="val 7736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432179" y="3834631"/>
            <a:ext cx="1751216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32179" y="4131766"/>
            <a:ext cx="166821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DC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tarefas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09943" y="5141119"/>
            <a:ext cx="1896889" cy="1477566"/>
          </a:xfrm>
          <a:prstGeom prst="roundRect">
            <a:avLst>
              <a:gd name="adj" fmla="val 7736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471868" y="5445547"/>
            <a:ext cx="1730343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71868" y="5742682"/>
            <a:ext cx="16492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+ targets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340182" y="5141119"/>
            <a:ext cx="1896814" cy="1477566"/>
          </a:xfrm>
          <a:prstGeom prst="roundRect">
            <a:avLst>
              <a:gd name="adj" fmla="val 7736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1502107" y="5445547"/>
            <a:ext cx="1730261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502107" y="5742682"/>
            <a:ext cx="164916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 + range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370347" y="5141119"/>
            <a:ext cx="1896814" cy="1477566"/>
          </a:xfrm>
          <a:prstGeom prst="roundRect">
            <a:avLst>
              <a:gd name="adj" fmla="val 7736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3532272" y="5588422"/>
            <a:ext cx="1730261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532272" y="5885557"/>
            <a:ext cx="17302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draft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400511" y="3530203"/>
            <a:ext cx="1896814" cy="1477566"/>
          </a:xfrm>
          <a:prstGeom prst="roundRect">
            <a:avLst>
              <a:gd name="adj" fmla="val 7736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5552911" y="3977506"/>
            <a:ext cx="1751216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52911" y="4274641"/>
            <a:ext cx="17512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+ gate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0600" y="8458200"/>
            <a:ext cx="16306800" cy="952500"/>
          </a:xfrm>
          <a:prstGeom prst="roundRect">
            <a:avLst>
              <a:gd name="adj" fmla="val 14000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352550" y="8705850"/>
            <a:ext cx="1607210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r>
              <a:rPr lang="en-US" sz="2250" dirty="0">
                <a:solidFill>
                  <a:srgbClr val="FFFFFF"/>
                </a:solidFill>
                <a:highlight>
                  <a:srgbClr val="183C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pitchbook rastreável + comps + issues list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093133" y="9625013"/>
            <a:ext cx="2804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2: Sell-side execution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697355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não roda o deal sozinho; ele organiza materiais, diligence, Q&amp;A e comparação de bids.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389436"/>
            <a:ext cx="2574875" cy="5968752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228725" y="2665661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90625" y="266566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8725" y="3256211"/>
            <a:ext cx="2308488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28725" y="3677543"/>
            <a:ext cx="2174825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letter + kickoff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36925" y="2389436"/>
            <a:ext cx="2574950" cy="5968752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975050" y="2665661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936950" y="266566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5050" y="3256211"/>
            <a:ext cx="230857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5050" y="3677543"/>
            <a:ext cx="2174900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Teaser, CIM, management deck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83325" y="2389436"/>
            <a:ext cx="2574950" cy="5968752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721450" y="2665661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83350" y="266566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1450" y="3256211"/>
            <a:ext cx="230857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721450" y="3677543"/>
            <a:ext cx="2174900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 index + red flags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29725" y="2389436"/>
            <a:ext cx="2574875" cy="5968752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9467850" y="2665661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429750" y="266566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67850" y="3256211"/>
            <a:ext cx="2308488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467850" y="3677543"/>
            <a:ext cx="2174825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 + NDA tracker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976050" y="2389436"/>
            <a:ext cx="2574950" cy="5968752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2214175" y="2665661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176075" y="266566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214175" y="3256211"/>
            <a:ext cx="230857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214175" y="3677543"/>
            <a:ext cx="2174900" cy="956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Perguntas, respostas e owners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722450" y="2389436"/>
            <a:ext cx="2574950" cy="5968752"/>
          </a:xfrm>
          <a:prstGeom prst="roundRect">
            <a:avLst>
              <a:gd name="adj" fmla="val 5179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4951050" y="2656136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FB2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4912950" y="265613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951050" y="3246686"/>
            <a:ext cx="2329525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4951050" y="3668018"/>
            <a:ext cx="2193950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+ negotiation memo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90600" y="8605838"/>
            <a:ext cx="16306800" cy="804863"/>
          </a:xfrm>
          <a:prstGeom prst="roundRect">
            <a:avLst>
              <a:gd name="adj" fmla="val 16568"/>
            </a:avLst>
          </a:prstGeom>
          <a:solidFill>
            <a:srgbClr val="EAF2FB"/>
          </a:solidFill>
          <a:ln w="952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343025" y="8843963"/>
            <a:ext cx="1609115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críticos: </a:t>
            </a:r>
            <a:r>
              <a:rPr lang="en-US" sz="1875" dirty="0">
                <a:solidFill>
                  <a:srgbClr val="3F5675"/>
                </a:solidFill>
                <a:highlight>
                  <a:srgbClr val="EAF2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segregação por bidder, logs de acesso ao VDR, aprovação de respostas e revisão legal/compliance.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7046699" y="9625013"/>
            <a:ext cx="32690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FABRIC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fabric &amp; entitlements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793748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visual e técnica: agentes só enxergam o que estão autorizados a enxergar.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389436"/>
            <a:ext cx="6391052" cy="3155826"/>
          </a:xfrm>
          <a:prstGeom prst="roundRect">
            <a:avLst>
              <a:gd name="adj" fmla="val 4226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66825" y="2627561"/>
            <a:ext cx="64224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internos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266825" y="3056186"/>
            <a:ext cx="825401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19225" y="3132386"/>
            <a:ext cx="59680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87476" y="3056186"/>
            <a:ext cx="1592238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339876" y="3132386"/>
            <a:ext cx="13636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history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74963" y="3056186"/>
            <a:ext cx="1504727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027363" y="3132386"/>
            <a:ext cx="127612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66825" y="3584823"/>
            <a:ext cx="1875309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419225" y="3661023"/>
            <a:ext cx="164670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Excel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37384" y="3584823"/>
            <a:ext cx="2136725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389784" y="3661023"/>
            <a:ext cx="190812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interno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66825" y="4113461"/>
            <a:ext cx="2147441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419225" y="4189661"/>
            <a:ext cx="191884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de reunião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0600" y="5716712"/>
            <a:ext cx="6391052" cy="3155826"/>
          </a:xfrm>
          <a:prstGeom prst="roundRect">
            <a:avLst>
              <a:gd name="adj" fmla="val 4226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66825" y="5954837"/>
            <a:ext cx="64224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externos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266825" y="6383462"/>
            <a:ext cx="1980233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19225" y="6459662"/>
            <a:ext cx="17516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 públicos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42308" y="6383462"/>
            <a:ext cx="1594619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494708" y="6459662"/>
            <a:ext cx="13660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32177" y="6383462"/>
            <a:ext cx="1517005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184577" y="6459662"/>
            <a:ext cx="128840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66825" y="6912099"/>
            <a:ext cx="1179240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419225" y="6988299"/>
            <a:ext cx="9506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Notícias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541315" y="6912099"/>
            <a:ext cx="2234654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693715" y="6988299"/>
            <a:ext cx="200605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licenciadas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871219" y="6912099"/>
            <a:ext cx="1343099" cy="433388"/>
          </a:xfrm>
          <a:prstGeom prst="roundRect">
            <a:avLst>
              <a:gd name="adj" fmla="val 17582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023619" y="6988299"/>
            <a:ext cx="111449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4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KYC/AML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591202" y="2389436"/>
            <a:ext cx="2857500" cy="6483102"/>
          </a:xfrm>
          <a:prstGeom prst="roundRect">
            <a:avLst>
              <a:gd name="adj" fmla="val 5333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800752" y="4651102"/>
            <a:ext cx="24384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288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800752" y="5346427"/>
            <a:ext cx="24384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Entitlement Gateway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8819927" y="6220346"/>
            <a:ext cx="400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37" name="Shape 35"/>
          <p:cNvSpPr/>
          <p:nvPr/>
        </p:nvSpPr>
        <p:spPr>
          <a:xfrm>
            <a:off x="10658252" y="2389436"/>
            <a:ext cx="6639148" cy="6483102"/>
          </a:xfrm>
          <a:prstGeom prst="roundRect">
            <a:avLst>
              <a:gd name="adj" fmla="val 2351"/>
            </a:avLst>
          </a:prstGeom>
          <a:solidFill>
            <a:srgbClr val="EAF2FB"/>
          </a:solidFill>
          <a:ln w="952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0934477" y="2627561"/>
            <a:ext cx="66953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autorizados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10934477" y="3075236"/>
            <a:ext cx="6086698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11105927" y="3189536"/>
            <a:ext cx="592639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934477" y="3699123"/>
            <a:ext cx="6086698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1105927" y="3813423"/>
            <a:ext cx="592639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934477" y="4323011"/>
            <a:ext cx="6086698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11105927" y="4437311"/>
            <a:ext cx="592639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VDR Extractor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934477" y="4946898"/>
            <a:ext cx="6086698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1105927" y="5061198"/>
            <a:ext cx="592639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 Architect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934477" y="5570786"/>
            <a:ext cx="6086698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1105927" y="5685086"/>
            <a:ext cx="592639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934477" y="6194673"/>
            <a:ext cx="6086698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1105927" y="6308973"/>
            <a:ext cx="592639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90600" y="9236869"/>
            <a:ext cx="438150" cy="3810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600200" y="9101138"/>
            <a:ext cx="656300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ABAC/RBAC + deal room + wall status + audit trail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7044913" y="9625013"/>
            <a:ext cx="32868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nativa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793748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IBD, governança não é add-on; é parte do produto.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427536"/>
            <a:ext cx="3124200" cy="5859661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09675" y="2684711"/>
            <a:ext cx="2954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09675" y="3084761"/>
            <a:ext cx="2954655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MNPI &amp; walls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09675" y="3476774"/>
            <a:ext cx="2766632" cy="128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Segregação de informações materiais não públicas e controle por deal/client.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86250" y="2427536"/>
            <a:ext cx="3124200" cy="5859661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05325" y="2684711"/>
            <a:ext cx="2954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505325" y="3084761"/>
            <a:ext cx="2954655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Conflitos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4505325" y="3476774"/>
            <a:ext cx="2766632" cy="159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Checagem de relacionamento, mandatos, restricted/watch lists e escalation.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81900" y="2427536"/>
            <a:ext cx="3124200" cy="5859661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00975" y="2684711"/>
            <a:ext cx="2954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800975" y="3084761"/>
            <a:ext cx="2954655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7800975" y="3476774"/>
            <a:ext cx="2766632" cy="97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número e recomendação material cita fonte, cálculo, precedente do corpus e versão rastreável.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877550" y="2427536"/>
            <a:ext cx="3124200" cy="5859661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096625" y="2684711"/>
            <a:ext cx="2954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096625" y="3084761"/>
            <a:ext cx="2954655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gates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1096625" y="3476774"/>
            <a:ext cx="2766632" cy="128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client-facing e decisões reguladas permanecem human-owned.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73200" y="2427536"/>
            <a:ext cx="3124200" cy="5859661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392275" y="2684711"/>
            <a:ext cx="2954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392275" y="3084761"/>
            <a:ext cx="2954655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2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Recordkeeping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4392275" y="3476774"/>
            <a:ext cx="2766632" cy="97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Inputs, tool calls, fontes, outputs, versões e aprovações gravados.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0600" y="8534846"/>
            <a:ext cx="16306800" cy="875854"/>
          </a:xfrm>
          <a:prstGeom prst="roundRect">
            <a:avLst>
              <a:gd name="adj" fmla="val 15225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352550" y="8782496"/>
            <a:ext cx="16072104" cy="418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Princípio: </a:t>
            </a:r>
            <a:r>
              <a:rPr lang="en-US" sz="2100" dirty="0">
                <a:solidFill>
                  <a:srgbClr val="FFFFFF"/>
                </a:solidFill>
                <a:highlight>
                  <a:srgbClr val="183C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 agente pode produzir, verificar e escalar; decisão crítica e comunicação externa continuam com humanos.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038439" y="9625013"/>
            <a:ext cx="33516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autonomia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793748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com níveis 0-2; expandir para 3 com controles; bloquear 4-5 por padrão.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465636"/>
            <a:ext cx="2590800" cy="1645890"/>
          </a:xfrm>
          <a:prstGeom prst="roundRect">
            <a:avLst>
              <a:gd name="adj" fmla="val 8102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00150" y="2732336"/>
            <a:ext cx="238887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00150" y="3311426"/>
            <a:ext cx="2388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&amp; resumo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733800" y="2465636"/>
            <a:ext cx="2590800" cy="1645890"/>
          </a:xfrm>
          <a:prstGeom prst="roundRect">
            <a:avLst>
              <a:gd name="adj" fmla="val 8102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943350" y="2732336"/>
            <a:ext cx="238887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943350" y="3311426"/>
            <a:ext cx="2388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interno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477000" y="2465636"/>
            <a:ext cx="2590800" cy="1645890"/>
          </a:xfrm>
          <a:prstGeom prst="roundRect">
            <a:avLst>
              <a:gd name="adj" fmla="val 8102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86550" y="2732336"/>
            <a:ext cx="238887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6686550" y="3311426"/>
            <a:ext cx="2388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interno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20200" y="2465636"/>
            <a:ext cx="2590800" cy="1645890"/>
          </a:xfrm>
          <a:prstGeom prst="roundRect">
            <a:avLst>
              <a:gd name="adj" fmla="val 8102"/>
            </a:avLst>
          </a:prstGeom>
          <a:solidFill>
            <a:srgbClr val="9CC3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429750" y="2732336"/>
            <a:ext cx="238887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B4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429750" y="3311426"/>
            <a:ext cx="2388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1331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interno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963400" y="2465636"/>
            <a:ext cx="2590800" cy="1645890"/>
          </a:xfrm>
          <a:prstGeom prst="roundRect">
            <a:avLst>
              <a:gd name="adj" fmla="val 810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172950" y="2732336"/>
            <a:ext cx="238887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2172950" y="3311426"/>
            <a:ext cx="22479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externa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4706600" y="2465636"/>
            <a:ext cx="2590800" cy="1645890"/>
          </a:xfrm>
          <a:prstGeom prst="roundRect">
            <a:avLst>
              <a:gd name="adj" fmla="val 810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4916150" y="2732336"/>
            <a:ext cx="238887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4916150" y="3311426"/>
            <a:ext cx="2388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regulada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600" y="4282976"/>
            <a:ext cx="8077200" cy="4580037"/>
          </a:xfrm>
          <a:prstGeom prst="roundRect">
            <a:avLst>
              <a:gd name="adj" fmla="val 2496"/>
            </a:avLst>
          </a:prstGeom>
          <a:solidFill>
            <a:srgbClr val="DCE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257300" y="6422082"/>
            <a:ext cx="1131019" cy="339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zone: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407369" y="6431607"/>
            <a:ext cx="3794921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1331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pesquisa, draft e updates internos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963400" y="4282976"/>
            <a:ext cx="5334000" cy="4580037"/>
          </a:xfrm>
          <a:prstGeom prst="roundRect">
            <a:avLst>
              <a:gd name="adj" fmla="val 2496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230100" y="6271245"/>
            <a:ext cx="1316757" cy="641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zone: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565907" y="6280770"/>
            <a:ext cx="2815072" cy="62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DC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externo/regulado sempre human-owned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0600" y="9232106"/>
            <a:ext cx="438150" cy="3810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600200" y="9091613"/>
            <a:ext cx="1443742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rollout: </a:t>
            </a: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ganhar confiança em tarefas reversíveis antes de qualquer automação que toque sistemas externos.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050494" y="9625013"/>
            <a:ext cx="32310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3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9039374" y="-571500"/>
            <a:ext cx="10772626" cy="1143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14400"/>
            <a:ext cx="1834381" cy="628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50" y="3198912"/>
            <a:ext cx="138303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b="1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1"/>
          <p:cNvSpPr/>
          <p:nvPr/>
        </p:nvSpPr>
        <p:spPr>
          <a:xfrm>
            <a:off x="1047750" y="5008662"/>
            <a:ext cx="13830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&amp; Roadmap</a:t>
            </a:r>
            <a:endParaRPr lang="en-US" sz="6300" dirty="0"/>
          </a:p>
        </p:txBody>
      </p:sp>
      <p:sp>
        <p:nvSpPr>
          <p:cNvPr id="6" name="Text 2"/>
          <p:cNvSpPr/>
          <p:nvPr/>
        </p:nvSpPr>
        <p:spPr>
          <a:xfrm>
            <a:off x="1047750" y="6132612"/>
            <a:ext cx="11576685" cy="993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8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plano de 90 dias para chegar a um piloto funcional, mensurável e compatível com controles de IBD.</a:t>
            </a:r>
            <a:endParaRPr lang="en-US" sz="2850" dirty="0"/>
          </a:p>
        </p:txBody>
      </p:sp>
      <p:sp>
        <p:nvSpPr>
          <p:cNvPr id="7" name="Text 3"/>
          <p:cNvSpPr/>
          <p:nvPr/>
        </p:nvSpPr>
        <p:spPr>
          <a:xfrm>
            <a:off x="1047750" y="9205913"/>
            <a:ext cx="22470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242965" y="92059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80569" y="92059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90 dias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793748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ondas: foundation, build, pilot e hardening.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427536"/>
            <a:ext cx="3919537" cy="592269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66825" y="2737098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96864" y="2722811"/>
            <a:ext cx="15728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66825" y="3260973"/>
            <a:ext cx="3367088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66825" y="3499098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SSO/RBAC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6825" y="3948633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rooms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6825" y="4398169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Corpus: backfill + curadoria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19688" y="2427536"/>
            <a:ext cx="3919537" cy="592269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95913" y="2737098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825951" y="2722811"/>
            <a:ext cx="146177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Build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5395913" y="3260973"/>
            <a:ext cx="3367088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95913" y="3499098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5913" y="3948633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agentes MVP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5913" y="4398169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PPT/Excel draft tools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48775" y="2427536"/>
            <a:ext cx="3919537" cy="592269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525000" y="2737098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955039" y="2722811"/>
            <a:ext cx="63207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0" y="3260973"/>
            <a:ext cx="3367088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525000" y="3499098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use cases reais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25000" y="3948633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0" y="4398169"/>
            <a:ext cx="370379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scorecards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377863" y="2427536"/>
            <a:ext cx="3919537" cy="5922690"/>
          </a:xfrm>
          <a:prstGeom prst="roundRect">
            <a:avLst>
              <a:gd name="adj" fmla="val 3888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3644563" y="2727573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074601" y="2713286"/>
            <a:ext cx="220150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&amp; Scale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3644563" y="3251448"/>
            <a:ext cx="3386138" cy="28575"/>
          </a:xfrm>
          <a:prstGeom prst="roundRect">
            <a:avLst>
              <a:gd name="adj" fmla="val 50000"/>
            </a:avLst>
          </a:prstGeom>
          <a:solidFill>
            <a:srgbClr val="3F5A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3644563" y="3489573"/>
            <a:ext cx="372475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644563" y="3939108"/>
            <a:ext cx="372475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644563" y="4388644"/>
            <a:ext cx="372475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de expansão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90600" y="8597875"/>
            <a:ext cx="16306800" cy="812825"/>
          </a:xfrm>
          <a:prstGeom prst="roundRect">
            <a:avLst>
              <a:gd name="adj" fmla="val 16406"/>
            </a:avLst>
          </a:prstGeom>
          <a:solidFill>
            <a:srgbClr val="EAF2FB"/>
          </a:solidFill>
          <a:ln w="952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362075" y="8836000"/>
            <a:ext cx="16053054" cy="374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piloto: </a:t>
            </a:r>
            <a:r>
              <a:rPr lang="en-US" sz="1950" dirty="0">
                <a:solidFill>
                  <a:srgbClr val="3F5675"/>
                </a:solidFill>
                <a:highlight>
                  <a:srgbClr val="EAF2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Origination-to-Pitch para 1 setor e 1 time de bankers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7056745" y="9625013"/>
            <a:ext cx="3168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técnico inicial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793748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entregas por trilhas reduz risco e acelera adoção.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427536"/>
            <a:ext cx="5283175" cy="6425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04925" y="2775198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4964" y="2741861"/>
            <a:ext cx="1677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04925" y="3265736"/>
            <a:ext cx="4654525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04925" y="3522911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IAM/KMS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04925" y="4003923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Tenant/deal isolation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304925" y="4484936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+ Knowledge Bases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304925" y="4965948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baseline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304925" y="5446961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policy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502375" y="2427536"/>
            <a:ext cx="5283175" cy="6425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816700" y="2775198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246739" y="2741861"/>
            <a:ext cx="180802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816700" y="3265736"/>
            <a:ext cx="4654525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16700" y="3522911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Captain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816700" y="4003923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816700" y="4484936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Agent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6816700" y="4965948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 Agent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816700" y="5446961"/>
            <a:ext cx="51199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QA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014150" y="2427536"/>
            <a:ext cx="5283250" cy="6425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2328475" y="2775198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758514" y="2741861"/>
            <a:ext cx="20873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Layer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2328475" y="3265736"/>
            <a:ext cx="4654600" cy="28575"/>
          </a:xfrm>
          <a:prstGeom prst="roundRect">
            <a:avLst>
              <a:gd name="adj" fmla="val 50000"/>
            </a:avLst>
          </a:prstGeom>
          <a:solidFill>
            <a:srgbClr val="E4E9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2328475" y="3522911"/>
            <a:ext cx="51200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launcher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2328475" y="4003923"/>
            <a:ext cx="51200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inbox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2328475" y="4484936"/>
            <a:ext cx="51200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PPTX/PDF generation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2328475" y="4965948"/>
            <a:ext cx="51200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checks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2328475" y="5446961"/>
            <a:ext cx="51200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dashboards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990600" y="9236869"/>
            <a:ext cx="438150" cy="3810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600200" y="9101138"/>
            <a:ext cx="873970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modular: </a:t>
            </a: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dados, construir workflow proprietário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7044690" y="9625013"/>
            <a:ext cx="32891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DO PILOTO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KPIs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793748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valor, qualidade e controle desde o primeiro ciclo.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465636"/>
            <a:ext cx="3905250" cy="6378327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5835" y="4556745"/>
            <a:ext cx="3905250" cy="1405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- 40%/- 60%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1255776" y="5838824"/>
            <a:ext cx="3374898" cy="70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até primeiro draft de pitchbook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24450" y="2465636"/>
            <a:ext cx="3905250" cy="6378327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pPr algn="ctr"/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38775" y="4807148"/>
            <a:ext cx="3604260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38775" y="5838825"/>
            <a:ext cx="3374898" cy="70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materiais com fonte rastreável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58300" y="2465636"/>
            <a:ext cx="3905250" cy="6378327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572625" y="4807148"/>
            <a:ext cx="3604260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&gt;70%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9572625" y="5838825"/>
            <a:ext cx="3374898" cy="70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aceitação de primeiro draft pelo banker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392150" y="2465636"/>
            <a:ext cx="3905250" cy="6378327"/>
          </a:xfrm>
          <a:prstGeom prst="roundRect">
            <a:avLst>
              <a:gd name="adj" fmla="val 3902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3539290" y="4807148"/>
            <a:ext cx="3625215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numCol="1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13696950" y="5838825"/>
            <a:ext cx="3394519" cy="70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1950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externos sem aprovação humana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90600" y="9232106"/>
            <a:ext cx="438150" cy="38100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600200" y="9091613"/>
            <a:ext cx="1584075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semanal: </a:t>
            </a:r>
            <a:r>
              <a:rPr lang="en-US" sz="1875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economizado, retrabalho, erros encontrados pelo Red Team, fontes ausentes, aprovações e incidentes.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044318" y="9625013"/>
            <a:ext cx="32928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57288"/>
            <a:ext cx="179374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600" y="1804988"/>
            <a:ext cx="17937480" cy="374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humano muda de executor para orquestrador, revisor e dono de decisão.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465636"/>
            <a:ext cx="3108945" cy="5821561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28725" y="2760911"/>
            <a:ext cx="289596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/ Partner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28725" y="3206651"/>
            <a:ext cx="38100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28725" y="3387626"/>
            <a:ext cx="2711676" cy="97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tese, relacionamento e decisão final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0045" y="2465636"/>
            <a:ext cx="3108945" cy="5821561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28170" y="2760911"/>
            <a:ext cx="289596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/ Associate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528170" y="3206651"/>
            <a:ext cx="38100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28170" y="3387626"/>
            <a:ext cx="2711676" cy="97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 workflow, revisa output e ajusta narrativa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89490" y="2465636"/>
            <a:ext cx="3108945" cy="5821561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27615" y="2760911"/>
            <a:ext cx="289596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827615" y="3206651"/>
            <a:ext cx="38100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827615" y="3387626"/>
            <a:ext cx="2711676" cy="97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agentes, valida fontes e cura o Judgment Corpus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888935" y="2465636"/>
            <a:ext cx="3108945" cy="5821561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127060" y="2760911"/>
            <a:ext cx="289596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Compliance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127060" y="3206651"/>
            <a:ext cx="38100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1127060" y="3387626"/>
            <a:ext cx="271167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 gates, conflicts, MNPI e comunicações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88380" y="2465636"/>
            <a:ext cx="3108945" cy="5821561"/>
          </a:xfrm>
          <a:prstGeom prst="roundRect">
            <a:avLst>
              <a:gd name="adj" fmla="val 4289"/>
            </a:avLst>
          </a:prstGeom>
          <a:solidFill>
            <a:srgbClr val="EAF2FB"/>
          </a:solidFill>
          <a:ln w="952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426505" y="2760911"/>
            <a:ext cx="289596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/ Eng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4426505" y="3206651"/>
            <a:ext cx="381000" cy="28575"/>
          </a:xfrm>
          <a:prstGeom prst="roundRect">
            <a:avLst>
              <a:gd name="adj" fmla="val 50000"/>
            </a:avLst>
          </a:prstGeom>
          <a:solidFill>
            <a:srgbClr val="0071B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4426505" y="3387626"/>
            <a:ext cx="2711676" cy="97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3F5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Evolui agentes, integra dados e monitora qualidade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0600" y="8534846"/>
            <a:ext cx="16306800" cy="875854"/>
          </a:xfrm>
          <a:prstGeom prst="roundRect">
            <a:avLst>
              <a:gd name="adj" fmla="val 15225"/>
            </a:avLst>
          </a:prstGeom>
          <a:solidFill>
            <a:srgbClr val="183C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352550" y="8782496"/>
            <a:ext cx="16072104" cy="418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do futuro = gerente de agentes; </a:t>
            </a:r>
            <a:r>
              <a:rPr lang="en-US" sz="2100" dirty="0">
                <a:solidFill>
                  <a:srgbClr val="FFFFFF"/>
                </a:solidFill>
                <a:highlight>
                  <a:srgbClr val="183C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banker sênior continua dono de julgamento, relacionamento e responsabilidade.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90600" y="9634538"/>
            <a:ext cx="21602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78287" y="9625013"/>
            <a:ext cx="1614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87316" y="9625013"/>
            <a:ext cx="243536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95428" y="9625013"/>
            <a:ext cx="37817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570" y="761970"/>
            <a:ext cx="179375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570" y="1152465"/>
            <a:ext cx="179375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para kick-off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90570" y="1800136"/>
            <a:ext cx="17937547" cy="374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anda mais rápido quando as escolhas iniciais são explícitas.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570" y="2403515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82035" y="2656850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82035" y="3051185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do piloto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282035" y="3463737"/>
            <a:ext cx="4854390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Setor, time, workflow e cliente/caso simulado.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5991" y="2403515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87455" y="2656850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787455" y="3051185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permitidos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6787455" y="3463737"/>
            <a:ext cx="4854390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fontes entram na Knowledge Base inicial.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01412" y="2403515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292876" y="2656850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292876" y="3051185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humanos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2292876" y="3463737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aprova cada tipo de output.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570" y="5494526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82035" y="5747861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82035" y="6142197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282035" y="6554748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de tempo, qualidade e risco.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95991" y="5494526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787455" y="5747861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787455" y="6142197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6787455" y="6554748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Pitchbooks, modelos e language aprovado.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01412" y="5494526"/>
            <a:ext cx="5295930" cy="2881521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5715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2292876" y="5747861"/>
            <a:ext cx="5184300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292876" y="6142197"/>
            <a:ext cx="518430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posture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2292876" y="6554748"/>
            <a:ext cx="518430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525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agente nunca pode fazer sozinho.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0570" y="8604647"/>
            <a:ext cx="16306860" cy="806083"/>
          </a:xfrm>
          <a:prstGeom prst="roundRect">
            <a:avLst>
              <a:gd name="adj" fmla="val 16543"/>
            </a:avLst>
          </a:prstGeom>
          <a:solidFill>
            <a:srgbClr val="EAF2FB"/>
          </a:solidFill>
          <a:ln w="5715">
            <a:solidFill>
              <a:srgbClr val="CFE0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358235" y="8838962"/>
            <a:ext cx="16060736" cy="375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b="1" dirty="0">
                <a:solidFill>
                  <a:srgbClr val="007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deliverable: </a:t>
            </a:r>
            <a:r>
              <a:rPr lang="en-US" sz="1950" dirty="0">
                <a:solidFill>
                  <a:srgbClr val="3F5675"/>
                </a:solidFill>
                <a:highlight>
                  <a:srgbClr val="EAF2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piloto funcional com 5 agentes e 1 workflow completo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90570" y="9637455"/>
            <a:ext cx="216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83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78242" y="962602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CD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87197" y="962602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046685" y="9626025"/>
            <a:ext cx="326946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83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680282" y="-761970"/>
            <a:ext cx="11131660" cy="1181094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20" y="914400"/>
            <a:ext cx="1834336" cy="628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20" y="2789813"/>
            <a:ext cx="155066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FB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THESIS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047720" y="3389888"/>
            <a:ext cx="15506635" cy="771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CFE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vencedor não será o melhor chat.</a:t>
            </a:r>
            <a:endParaRPr lang="en-US" sz="5550" dirty="0"/>
          </a:p>
        </p:txBody>
      </p:sp>
      <p:sp>
        <p:nvSpPr>
          <p:cNvPr id="6" name="Text 2"/>
          <p:cNvSpPr/>
          <p:nvPr/>
        </p:nvSpPr>
        <p:spPr>
          <a:xfrm>
            <a:off x="1047720" y="4294287"/>
            <a:ext cx="14519849" cy="1503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Será o melhor sistema operacional de deal execution.</a:t>
            </a:r>
            <a:endParaRPr lang="en-US" sz="5550" dirty="0"/>
          </a:p>
        </p:txBody>
      </p:sp>
      <p:sp>
        <p:nvSpPr>
          <p:cNvPr id="7" name="Shape 3"/>
          <p:cNvSpPr/>
          <p:nvPr/>
        </p:nvSpPr>
        <p:spPr>
          <a:xfrm>
            <a:off x="1047720" y="6198275"/>
            <a:ext cx="12763471" cy="1298912"/>
          </a:xfrm>
          <a:prstGeom prst="roundRect">
            <a:avLst>
              <a:gd name="adj" fmla="val 10266"/>
            </a:avLst>
          </a:prstGeom>
          <a:solidFill>
            <a:srgbClr val="FFFFFF">
              <a:alpha val="8000"/>
            </a:srgbClr>
          </a:solidFill>
          <a:ln w="5715">
            <a:solidFill>
              <a:srgbClr val="7FB2E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1415385" y="6451640"/>
            <a:ext cx="12411045" cy="830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proprietários + workflows de IBD + personas reguladas + governança nativa + AWS/Bedrock.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047720" y="9206865"/>
            <a:ext cx="243542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IBD Platform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414088" y="9206865"/>
            <a:ext cx="161389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3F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51617" y="9206865"/>
            <a:ext cx="224703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8F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AI Lab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2493</Words>
  <Application>Microsoft Macintosh PowerPoint</Application>
  <PresentationFormat>Personalizar</PresentationFormat>
  <Paragraphs>504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Totó Busnello</cp:lastModifiedBy>
  <cp:revision>2</cp:revision>
  <dcterms:created xsi:type="dcterms:W3CDTF">2026-06-27T00:41:44Z</dcterms:created>
  <dcterms:modified xsi:type="dcterms:W3CDTF">2026-06-27T00:45:21Z</dcterms:modified>
</cp:coreProperties>
</file>